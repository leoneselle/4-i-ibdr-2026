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Mero Thai" charset="1" panose="00000500000000000000"/>
      <p:regular r:id="rId18"/>
    </p:embeddedFont>
    <p:embeddedFont>
      <p:font typeface="Intro Rust" charset="1" panose="00000500000000000000"/>
      <p:regular r:id="rId19"/>
    </p:embeddedFont>
    <p:embeddedFont>
      <p:font typeface="Mero Thai Bold" charset="1" panose="000005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jpeg" Type="http://schemas.openxmlformats.org/officeDocument/2006/relationships/image"/><Relationship Id="rId3" Target="../media/image29.png" Type="http://schemas.openxmlformats.org/officeDocument/2006/relationships/image"/><Relationship Id="rId4" Target="../media/image30.sv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svg" Type="http://schemas.openxmlformats.org/officeDocument/2006/relationships/image"/><Relationship Id="rId11" Target="../media/image37.png" Type="http://schemas.openxmlformats.org/officeDocument/2006/relationships/image"/><Relationship Id="rId12" Target="../media/image38.svg" Type="http://schemas.openxmlformats.org/officeDocument/2006/relationships/image"/><Relationship Id="rId2" Target="https://www.google.com/search?q=DELETE&amp;sca_esv=90400c0a8b8f484b&amp;biw=1280&amp;bih=889&amp;sxsrf=ANbL-n5sYaRbAtxo0Libpk5TGh6fHlKKEQ%3A1776815399517&amp;ei=Jw3oaYuiH86iqtsPmrPj2QE&amp;ved=2ahUKEwj17KXDkYCUAxVCnGoFHSuFIFEQgK4QegQIBBAJ&amp;uact=5&amp;oq=tipos+de+request+y+uso&amp;gs_lp=Egxnd3Mtd2l6LXNlcnAiFnRpcG9zIGRlIHJlcXVlc3QgeSB1c28yBRAhGKABSOonUMAEWL8kcAF4AZABAJgBc6AB3A2qAQQyMS4xuAEDyAEA-AEBmAIXoAKYD6gCCsICFhAAGIAEGIoFGEMY5wYY6gIYtALYAQHCAhAQABgDGI8BGOoCGLQC2AEBwgIQEAAYgAQYigUYQxixAxiDAcICBRAAGIAEwgIOEAAYgAQYigUYsQMYgwHCAgsQABiABBixAxiDAcICDhAuGIAEGLEDGMcBGNEDwgIOEC4YgAQYigUYsQMYgwHCAggQABiABBixA8ICChAAGIAEGIoFGEPCAhMQLhiABBiKBRhDGLEDGMcBGNEDwgIKEC4YgAQYigUYQ8ICBBAAGAPCAggQLhiABBixA8ICDRAAGIAEGIoFGEMYsQPCAgYQABgWGB7CAggQABiABBiiBMICBRAAGO8FwgIFECEYnwWYAwXiAwUSATEgQPEFASVXJnH1HLe6BgQIARgHkgcEMjEuMqAHmnKyBwQyMC4yuAeSD8IHCDAuNS4xMC44yAeIAYAIAQ&amp;sclient=gws-wiz-serp&amp;mstk=AUtExfCzluLpHMWOWbXUBJaqapoyO-WKlNwB55T99-ASVkhSGDENyU5aCk717qHiWk4UTe9bBm_-o0VrUifZdG0v0qJq_jJIYo31aj6UXFaRa-NhnHRkCorkOk5dXM-tO_vjvGLNfuvJEUc_EJ8mlsAc93E7rsmqmSHg4-mnNHKGHRTA3Fvudy4pqFpqH1Uz5C4sLo07&amp;csui=3" TargetMode="External" Type="http://schemas.openxmlformats.org/officeDocument/2006/relationships/hyperlink"/><Relationship Id="rId3" Target="https://www.google.com/search?q=DELETE&amp;sca_esv=90400c0a8b8f484b&amp;biw=1280&amp;bih=889&amp;sxsrf=ANbL-n5sYaRbAtxo0Libpk5TGh6fHlKKEQ%3A1776815399517&amp;ei=Jw3oaYuiH86iqtsPmrPj2QE&amp;ved=2ahUKEwj17KXDkYCUAxVCnGoFHSuFIFEQgK4QegQIBBAJ&amp;uact=5&amp;oq=tipos+de+request+y+uso&amp;gs_lp=Egxnd3Mtd2l6LXNlcnAiFnRpcG9zIGRlIHJlcXVlc3QgeSB1c28yBRAhGKABSOonUMAEWL8kcAF4AZABAJgBc6AB3A2qAQQyMS4xuAEDyAEA-AEBmAIXoAKYD6gCCsICFhAAGIAEGIoFGEMY5wYY6gIYtALYAQHCAhAQABgDGI8BGOoCGLQC2AEBwgIQEAAYgAQYigUYQxixAxiDAcICBRAAGIAEwgIOEAAYgAQYigUYsQMYgwHCAgsQABiABBixAxiDAcICDhAuGIAEGLEDGMcBGNEDwgIOEC4YgAQYigUYsQMYgwHCAggQABiABBixA8ICChAAGIAEGIoFGEPCAhMQLhiABBiKBRhDGLEDGMcBGNEDwgIKEC4YgAQYigUYQ8ICBBAAGAPCAggQLhiABBixA8ICDRAAGIAEGIoFGEMYsQPCAgYQABgWGB7CAggQABiABBiiBMICBRAAGO8FwgIFECEYnwWYAwXiAwUSATEgQPEFASVXJnH1HLe6BgQIARgHkgcEMjEuMqAHmnKyBwQyMC4yuAeSD8IHCDAuNS4xMC44yAeIAYAIAQ&amp;sclient=gws-wiz-serp&amp;mstk=AUtExfCzluLpHMWOWbXUBJaqapoyO-WKlNwB55T99-ASVkhSGDENyU5aCk717qHiWk4UTe9bBm_-o0VrUifZdG0v0qJq_jJIYo31aj6UXFaRa-NhnHRkCorkOk5dXM-tO_vjvGLNfuvJEUc_EJ8mlsAc93E7rsmqmSHg4-mnNHKGHRTA3Fvudy4pqFpqH1Uz5C4sLo07&amp;csui=3" TargetMode="External" Type="http://schemas.openxmlformats.org/officeDocument/2006/relationships/hyperlink"/><Relationship Id="rId4" Target="https://www.google.com/search?q=GET&amp;sca_esv=90400c0a8b8f484b&amp;biw=1280&amp;bih=889&amp;sxsrf=ANbL-n5sYaRbAtxo0Libpk5TGh6fHlKKEQ%3A1776815399517&amp;ei=Jw3oaYuiH86iqtsPmrPj2QE&amp;ved=2ahUKEwj17KXDkYCUAxVCnGoFHSuFIFEQgK4QegQIBBAB&amp;uact=5&amp;oq=tipos+de+request+y+uso&amp;gs_lp=Egxnd3Mtd2l6LXNlcnAiFnRpcG9zIGRlIHJlcXVlc3QgeSB1c28yBRAhGKABSOonUMAEWL8kcAF4AZABAJgBc6AB3A2qAQQyMS4xuAEDyAEA-AEBmAIXoAKYD6gCCsICFhAAGIAEGIoFGEMY5wYY6gIYtALYAQHCAhAQABgDGI8BGOoCGLQC2AEBwgIQEAAYgAQYigUYQxixAxiDAcICBRAAGIAEwgIOEAAYgAQYigUYsQMYgwHCAgsQABiABBixAxiDAcICDhAuGIAEGLEDGMcBGNEDwgIOEC4YgAQYigUYsQMYgwHCAggQABiABBixA8ICChAAGIAEGIoFGEPCAhMQLhiABBiKBRhDGLEDGMcBGNEDwgIKEC4YgAQYigUYQ8ICBBAAGAPCAggQLhiABBixA8ICDRAAGIAEGIoFGEMYsQPCAgYQABgWGB7CAggQABiABBiiBMICBRAAGO8FwgIFECEYnwWYAwXiAwUSATEgQPEFASVXJnH1HLe6BgQIARgHkgcEMjEuMqAHmnKyBwQyMC4yuAeSD8IHCDAuNS4xMC44yAeIAYAIAQ&amp;sclient=gws-wiz-serp&amp;mstk=AUtExfCzluLpHMWOWbXUBJaqapoyO-WKlNwB55T99-ASVkhSGDENyU5aCk717qHiWk4UTe9bBm_-o0VrUifZdG0v0qJq_jJIYo31aj6UXFaRa-NhnHRkCorkOk5dXM-tO_vjvGLNfuvJEUc_EJ8mlsAc93E7rsmqmSHg4-mnNHKGHRTA3Fvudy4pqFpqH1Uz5C4sLo07&amp;csui=3" TargetMode="External" Type="http://schemas.openxmlformats.org/officeDocument/2006/relationships/hyperlink"/><Relationship Id="rId5" Target="https://www.google.com/search?q=POST&amp;sca_esv=90400c0a8b8f484b&amp;biw=1280&amp;bih=889&amp;sxsrf=ANbL-n5sYaRbAtxo0Libpk5TGh6fHlKKEQ%3A1776815399517&amp;ei=Jw3oaYuiH86iqtsPmrPj2QE&amp;ved=2ahUKEwj17KXDkYCUAxVCnGoFHSuFIFEQgK4QegQIBBAD&amp;uact=5&amp;oq=tipos+de+request+y+uso&amp;gs_lp=Egxnd3Mtd2l6LXNlcnAiFnRpcG9zIGRlIHJlcXVlc3QgeSB1c28yBRAhGKABSOonUMAEWL8kcAF4AZABAJgBc6AB3A2qAQQyMS4xuAEDyAEA-AEBmAIXoAKYD6gCCsICFhAAGIAEGIoFGEMY5wYY6gIYtALYAQHCAhAQABgDGI8BGOoCGLQC2AEBwgIQEAAYgAQYigUYQxixAxiDAcICBRAAGIAEwgIOEAAYgAQYigUYsQMYgwHCAgsQABiABBixAxiDAcICDhAuGIAEGLEDGMcBGNEDwgIOEC4YgAQYigUYsQMYgwHCAggQABiABBixA8ICChAAGIAEGIoFGEPCAhMQLhiABBiKBRhDGLEDGMcBGNEDwgIKEC4YgAQYigUYQ8ICBBAAGAPCAggQLhiABBixA8ICDRAAGIAEGIoFGEMYsQPCAgYQABgWGB7CAggQABiABBiiBMICBRAAGO8FwgIFECEYnwWYAwXiAwUSATEgQPEFASVXJnH1HLe6BgQIARgHkgcEMjEuMqAHmnKyBwQyMC4yuAeSD8IHCDAuNS4xMC44yAeIAYAIAQ&amp;sclient=gws-wiz-serp&amp;mstk=AUtExfCzluLpHMWOWbXUBJaqapoyO-WKlNwB55T99-ASVkhSGDENyU5aCk717qHiWk4UTe9bBm_-o0VrUifZdG0v0qJq_jJIYo31aj6UXFaRa-NhnHRkCorkOk5dXM-tO_vjvGLNfuvJEUc_EJ8mlsAc93E7rsmqmSHg4-mnNHKGHRTA3Fvudy4pqFpqH1Uz5C4sLo07&amp;csui=3" TargetMode="External" Type="http://schemas.openxmlformats.org/officeDocument/2006/relationships/hyperlink"/><Relationship Id="rId6" Target="https://www.google.com/search?q=PUT&amp;sca_esv=90400c0a8b8f484b&amp;biw=1280&amp;bih=889&amp;sxsrf=ANbL-n5sYaRbAtxo0Libpk5TGh6fHlKKEQ%3A1776815399517&amp;ei=Jw3oaYuiH86iqtsPmrPj2QE&amp;ved=2ahUKEwj17KXDkYCUAxVCnGoFHSuFIFEQgK4QegQIBBAF&amp;uact=5&amp;oq=tipos+de+request+y+uso&amp;gs_lp=Egxnd3Mtd2l6LXNlcnAiFnRpcG9zIGRlIHJlcXVlc3QgeSB1c28yBRAhGKABSOonUMAEWL8kcAF4AZABAJgBc6AB3A2qAQQyMS4xuAEDyAEA-AEBmAIXoAKYD6gCCsICFhAAGIAEGIoFGEMY5wYY6gIYtALYAQHCAhAQABgDGI8BGOoCGLQC2AEBwgIQEAAYgAQYigUYQxixAxiDAcICBRAAGIAEwgIOEAAYgAQYigUYsQMYgwHCAgsQABiABBixAxiDAcICDhAuGIAEGLEDGMcBGNEDwgIOEC4YgAQYigUYsQMYgwHCAggQABiABBixA8ICChAAGIAEGIoFGEPCAhMQLhiABBiKBRhDGLEDGMcBGNEDwgIKEC4YgAQYigUYQ8ICBBAAGAPCAggQLhiABBixA8ICDRAAGIAEGIoFGEMYsQPCAgYQABgWGB7CAggQABiABBiiBMICBRAAGO8FwgIFECEYnwWYAwXiAwUSATEgQPEFASVXJnH1HLe6BgQIARgHkgcEMjEuMqAHmnKyBwQyMC4yuAeSD8IHCDAuNS4xMC44yAeIAYAIAQ&amp;sclient=gws-wiz-serp&amp;mstk=AUtExfCzluLpHMWOWbXUBJaqapoyO-WKlNwB55T99-ASVkhSGDENyU5aCk717qHiWk4UTe9bBm_-o0VrUifZdG0v0qJq_jJIYo31aj6UXFaRa-NhnHRkCorkOk5dXM-tO_vjvGLNfuvJEUc_EJ8mlsAc93E7rsmqmSHg4-mnNHKGHRTA3Fvudy4pqFpqH1Uz5C4sLo07&amp;csui=3" TargetMode="External" Type="http://schemas.openxmlformats.org/officeDocument/2006/relationships/hyperlink"/><Relationship Id="rId7" Target="../media/image33.png" Type="http://schemas.openxmlformats.org/officeDocument/2006/relationships/image"/><Relationship Id="rId8" Target="../media/image34.svg" Type="http://schemas.openxmlformats.org/officeDocument/2006/relationships/image"/><Relationship Id="rId9" Target="../media/image3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https://www.google.com/search?q=DELETE&amp;sca_esv=90400c0a8b8f484b&amp;biw=1280&amp;bih=889&amp;sxsrf=ANbL-n6QobJvN1cAAhJ0Nv5xIlQmDm_ySw%3A1776815494781&amp;ei=hg3oaam0L_GzqtsP-ovJ4AE&amp;ved=2ahUKEwjmptKDlICUAxUnlmoFHSgaA8MQgK4QegQIAxAN&amp;uact=5&amp;oq=tipos+de+request+y+uso+get+delet+post+y+put&amp;gs_lp=Egxnd3Mtd2l6LXNlcnAiK3RpcG9zIGRlIHJlcXVlc3QgeSB1c28gZ2V0IGRlbGV0IHBvc3QgeSBwdXQyBxAhGAoYoAEyBxAhGAoYoAFIzXlQ7gRY0XdwBXgAkAEAmAHUAaAB7haqAQcxMS4xNC4xuAEDyAEA-AEBmAIeoALUFsICChAAGEcY1gQYsAPCAgUQIRigAcICBRAhGJ8FwgIEECEYFcICBhAhGBUYCpgDAIgGAZAGApIHBzExLjE4LjGgB991sgcGNi4xOC4xuAfBFsIHBzEuMTIuMTfIB2GACAE&amp;sclient=gws-wiz-serp&amp;mstk=AUtExfAjFqSgkSXgnDfX2H4pL4VhmiGNbuNISF_nvm21lwgXUFR7Ffjvgq71LomzogJXVOVBSAYk9guR8_uzSec-cD1u0ubGZ_rJS-2m02YnpqICwDQZSgKwcxG19luzl1pBKwT8hahnUUpQAlOq_0ZFCgEAfTfanaAwI-6ycKdbKT469Cc&amp;csui=3" TargetMode="External" Type="http://schemas.openxmlformats.org/officeDocument/2006/relationships/hyperlink"/><Relationship Id="rId2" Target="../media/image39.png" Type="http://schemas.openxmlformats.org/officeDocument/2006/relationships/image"/><Relationship Id="rId3" Target="../media/image40.svg" Type="http://schemas.openxmlformats.org/officeDocument/2006/relationships/image"/><Relationship Id="rId4" Target="../media/image41.png" Type="http://schemas.openxmlformats.org/officeDocument/2006/relationships/image"/><Relationship Id="rId5" Target="../media/image42.svg" Type="http://schemas.openxmlformats.org/officeDocument/2006/relationships/image"/><Relationship Id="rId6" Target="https://www.google.com/search?q=GET&amp;sca_esv=90400c0a8b8f484b&amp;biw=1280&amp;bih=889&amp;sxsrf=ANbL-n6QobJvN1cAAhJ0Nv5xIlQmDm_ySw%3A1776815494781&amp;ei=hg3oaam0L_GzqtsP-ovJ4AE&amp;ved=2ahUKEwjmptKDlICUAxUnlmoFHSgaA8MQgK4QegQIAxAB&amp;uact=5&amp;oq=tipos+de+request+y+uso+get+delet+post+y+put&amp;gs_lp=Egxnd3Mtd2l6LXNlcnAiK3RpcG9zIGRlIHJlcXVlc3QgeSB1c28gZ2V0IGRlbGV0IHBvc3QgeSBwdXQyBxAhGAoYoAEyBxAhGAoYoAFIzXlQ7gRY0XdwBXgAkAEAmAHUAaAB7haqAQcxMS4xNC4xuAEDyAEA-AEBmAIeoALUFsICChAAGEcY1gQYsAPCAgUQIRigAcICBRAhGJ8FwgIEECEYFcICBhAhGBUYCpgDAIgGAZAGApIHBzExLjE4LjGgB991sgcGNi4xOC4xuAfBFsIHBzEuMTIuMTfIB2GACAE&amp;sclient=gws-wiz-serp&amp;mstk=AUtExfAjFqSgkSXgnDfX2H4pL4VhmiGNbuNISF_nvm21lwgXUFR7Ffjvgq71LomzogJXVOVBSAYk9guR8_uzSec-cD1u0ubGZ_rJS-2m02YnpqICwDQZSgKwcxG19luzl1pBKwT8hahnUUpQAlOq_0ZFCgEAfTfanaAwI-6ycKdbKT469Cc&amp;csui=3" TargetMode="External" Type="http://schemas.openxmlformats.org/officeDocument/2006/relationships/hyperlink"/><Relationship Id="rId7" Target="https://www.google.com/search?q=PUT&amp;sca_esv=90400c0a8b8f484b&amp;biw=1280&amp;bih=889&amp;sxsrf=ANbL-n6QobJvN1cAAhJ0Nv5xIlQmDm_ySw%3A1776815494781&amp;ei=hg3oaam0L_GzqtsP-ovJ4AE&amp;ved=2ahUKEwjmptKDlICUAxUnlmoFHSgaA8MQgK4QegQIAxAJ&amp;uact=5&amp;oq=tipos+de+request+y+uso+get+delet+post+y+put&amp;gs_lp=Egxnd3Mtd2l6LXNlcnAiK3RpcG9zIGRlIHJlcXVlc3QgeSB1c28gZ2V0IGRlbGV0IHBvc3QgeSBwdXQyBxAhGAoYoAEyBxAhGAoYoAFIzXlQ7gRY0XdwBXgAkAEAmAHUAaAB7haqAQcxMS4xNC4xuAEDyAEA-AEBmAIeoALUFsICChAAGEcY1gQYsAPCAgUQIRigAcICBRAhGJ8FwgIEECEYFcICBhAhGBUYCpgDAIgGAZAGApIHBzExLjE4LjGgB991sgcGNi4xOC4xuAfBFsIHBzEuMTIuMTfIB2GACAE&amp;sclient=gws-wiz-serp&amp;mstk=AUtExfAjFqSgkSXgnDfX2H4pL4VhmiGNbuNISF_nvm21lwgXUFR7Ffjvgq71LomzogJXVOVBSAYk9guR8_uzSec-cD1u0ubGZ_rJS-2m02YnpqICwDQZSgKwcxG19luzl1pBKwT8hahnUUpQAlOq_0ZFCgEAfTfanaAwI-6ycKdbKT469Cc&amp;csui=3" TargetMode="External" Type="http://schemas.openxmlformats.org/officeDocument/2006/relationships/hyperlink"/><Relationship Id="rId8" Target="https://www.google.com/search?q=POST&amp;sca_esv=90400c0a8b8f484b&amp;biw=1280&amp;bih=889&amp;sxsrf=ANbL-n6QobJvN1cAAhJ0Nv5xIlQmDm_ySw%3A1776815494781&amp;ei=hg3oaam0L_GzqtsP-ovJ4AE&amp;ved=2ahUKEwjmptKDlICUAxUnlmoFHSgaA8MQgK4QegQIAxAF&amp;uact=5&amp;oq=tipos+de+request+y+uso+get+delet+post+y+put&amp;gs_lp=Egxnd3Mtd2l6LXNlcnAiK3RpcG9zIGRlIHJlcXVlc3QgeSB1c28gZ2V0IGRlbGV0IHBvc3QgeSBwdXQyBxAhGAoYoAEyBxAhGAoYoAFIzXlQ7gRY0XdwBXgAkAEAmAHUAaAB7haqAQcxMS4xNC4xuAEDyAEA-AEBmAIeoALUFsICChAAGEcY1gQYsAPCAgUQIRigAcICBRAhGJ8FwgIEECEYFcICBhAhGBUYCpgDAIgGAZAGApIHBzExLjE4LjGgB991sgcGNi4xOC4xuAfBFsIHBzEuMTIuMTfIB2GACAE&amp;sclient=gws-wiz-serp&amp;mstk=AUtExfAjFqSgkSXgnDfX2H4pL4VhmiGNbuNISF_nvm21lwgXUFR7Ffjvgq71LomzogJXVOVBSAYk9guR8_uzSec-cD1u0ubGZ_rJS-2m02YnpqICwDQZSgKwcxG19luzl1pBKwT8hahnUUpQAlOq_0ZFCgEAfTfanaAwI-6ycKdbKT469Cc&amp;csui=3" TargetMode="External" Type="http://schemas.openxmlformats.org/officeDocument/2006/relationships/hyperlink"/><Relationship Id="rId9" Target="https://www.google.com/search?q=DELETE&amp;sca_esv=90400c0a8b8f484b&amp;biw=1280&amp;bih=889&amp;sxsrf=ANbL-n6QobJvN1cAAhJ0Nv5xIlQmDm_ySw%3A1776815494781&amp;ei=hg3oaam0L_GzqtsP-ovJ4AE&amp;ved=2ahUKEwjmptKDlICUAxUnlmoFHSgaA8MQgK4QegQIAxAN&amp;uact=5&amp;oq=tipos+de+request+y+uso+get+delet+post+y+put&amp;gs_lp=Egxnd3Mtd2l6LXNlcnAiK3RpcG9zIGRlIHJlcXVlc3QgeSB1c28gZ2V0IGRlbGV0IHBvc3QgeSBwdXQyBxAhGAoYoAEyBxAhGAoYoAFIzXlQ7gRY0XdwBXgAkAEAmAHUAaAB7haqAQcxMS4xNC4xuAEDyAEA-AEBmAIeoALUFsICChAAGEcY1gQYsAPCAgUQIRigAcICBRAhGJ8FwgIEECEYFcICBhAhGBUYCpgDAIgGAZAGApIHBzExLjE4LjGgB991sgcGNi4xOC4xuAfBFsIHBzEuMTIuMTfIB2GACAE&amp;sclient=gws-wiz-serp&amp;mstk=AUtExfAjFqSgkSXgnDfX2H4pL4VhmiGNbuNISF_nvm21lwgXUFR7Ffjvgq71LomzogJXVOVBSAYk9guR8_uzSec-cD1u0ubGZ_rJS-2m02YnpqICwDQZSgKwcxG19luzl1pBKwT8hahnUUpQAlOq_0ZFCgEAfTfanaAwI-6ycKdbKT469Cc&amp;csui=3" TargetMode="External" Type="http://schemas.openxmlformats.org/officeDocument/2006/relationships/hyperlink"/></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jpeg" Type="http://schemas.openxmlformats.org/officeDocument/2006/relationships/image"/><Relationship Id="rId3" Target="../media/image29.png" Type="http://schemas.openxmlformats.org/officeDocument/2006/relationships/image"/><Relationship Id="rId4" Target="../media/image30.svg" Type="http://schemas.openxmlformats.org/officeDocument/2006/relationships/image"/><Relationship Id="rId5" Target="https://www.google.com/search?q=Swagger+Editor&amp;sca_esv=90400c0a8b8f484b&amp;biw=1280&amp;bih=889&amp;sxsrf=ANbL-n4vlejJW75fsb2ySquYdB85UqYgDQ%3A1776816682573&amp;ei=KhLoacvbItSnmtkPpY-bwQs&amp;oq=como+crear+un+rest+api+con+sw&amp;gs_lp=Egxnd3Mtd2l6LXNlcnAiHWNvbW8gY3JlYXIgdW4gcmVzdCBhcGkgY29uIHN3KgIIADIFECEYoAEyBRAhGJ8FMgUQIRifBTIFECEYnwUyBRAhGJ8FMgUQIRifBUjeTlDPBFj7QHADeAGQAQCYAW6gAZwTqgEEMjkuMrgBAcgBAPgBAZgCIqACuxWoAgrCAhYQABiABBiKBRhDGOcGGOoCGLQC2AEBwgIcEC4YgAQYigUYQxjnBhjHARjRAxjqAhi0AtgBAcICEBAuGAMYjwEY6gIYtALYAQHCAhAQABgDGI8BGOoCGLQC2AEBwgINEAAYgAQYigUYQxixA8ICFhAuGIAEGIoFGEMYsQMYgwEYxwEY0QPCAgsQABiABBixAxiDAcICCBAAGIAEGLEDwgIFEAAYgATCAg4QABiABBiKBRixAxiDAcICCxAAGIAEGIoFGLEDwgIOEC4YgAQYsQMYxwEY0QPCAgoQABiABBiKBRhDwgIFEC4YgATCAgkQABiABBgKGAvCAgYQABgWGB7CAggQABiABBiiBMICBRAAGO8FwgIIEAAYiQUYogSYAwXxBZKDhq0wUaLcugYECAEYB5IHBDI4LjagB-vNAbIHBDI1Lja4B6gVwgcJMC41LjEzLjE2yAfpAYAIAQ&amp;sclient=gws-wiz-serp&amp;mstk=AUtExfD6zXn_lrAvusASUgWhtMO2quJutBWnkEPHpRTa7fHNx7bSIFFpFMGSVpmH6SHGRcl25scrB4tn_5LIGSmtvi2uBTaAIMUdxxPTnqpN5NCFfQhUokMSTRapZAozsK2eIbAwQHCfbCRkQIHpqUdjVfqkplatcfhalFbqzLZ1hPzyYeZn98UZGjb6FJKgZoDW65E8&amp;csui=3&amp;ved=2ahUKEwi55K3SloCUAxVJnCYFHerqNSIQgK4QegQIARAC" TargetMode="External" Type="http://schemas.openxmlformats.org/officeDocument/2006/relationships/hyperlink"/><Relationship Id="rId6" Target="../media/image31.png" Type="http://schemas.openxmlformats.org/officeDocument/2006/relationships/image"/><Relationship Id="rId7" Target="../media/image3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 Id="rId5" Target="https://www.google.com/search?q=Flasgger&amp;biw=1280&amp;bih=889&amp;sca_esv=90400c0a8b8f484b&amp;sxsrf=ANbL-n6hFLX899LmpY7al1_XLcd5Q7sjzA%3A1776816868033&amp;ei=5BLoaffcAYG2qtsPneDE0Qw&amp;ved=2ahUKEwju_sr5loCUAxU9nGoFHVyxCUIQgK4QegQIARAC&amp;uact=5&amp;oq=como+utilizar+swagger+con+flask&amp;gs_lp=Egxnd3Mtd2l6LXNlcnAiH2NvbW8gdXRpbGl6YXIgc3dhZ2dlciBjb24gZmxhc2syBRAhGKABMgUQIRigATIFECEYoAEyBRAhGJ8FMgUQIRifBTIFECEYnwVIu0pQzQxY7ENwAngBkAEAmAFnoAHvEaoBBDMwLjG4AQPIAQD4AQGYAiGgAukSqAIKwgIKEAAYRxjWBBiwA8ICEBAAGAMYjwEY6gIYtALYAQHCAhAQLhgDGI8BGOoCGLQC2AEBwgINEAAYgAQYigUYQxixA8ICChAAGIAEGIoFGEPCAhEQLhiABBixAxiDARjHARjRA8ICCBAAGIAEGLEDwgILEAAYgAQYsQMYgwHCAggQLhixAxiABMICDhAuGIAEGLEDGMcBGNEDwgIQEAAYgAQYigUYQxixAxiDAcICBRAAGIAEwgIIEAAYgAQYyQPCAgsQABiABBiKBRixA8ICCxAAGIAEGIoFGJIDwgIFEC4YgATCAgsQLhiABBixAxiDAcICBBAAGAPCAgYQABgWGB7CAggQABiABBiiBMICCBAAGIkFGKIEwgIFEAAY7wWYAwXxBYzXe_gaGhQ_iAYBkAYCugYECAEYCpIHBDMyLjGgB7zFAbIHBDMwLjG4B-ESwgcHMC4yMS4xMsgHWIAIAQ&amp;sclient=gws-wiz-serp&amp;mstk=AUtExfDYL5S4hjGN9o_ltJLDsl5IKU9zBKdVcG6QgYd8p1Oog3izYDeV-V5HxN-8Q7hrq9f6k5d0ermE9IfKAVaxuHCyhvZ3DXy6jN32aKgNFJZt5RCYEn7csLlc6XUEFky6Wv2Nd9murm2nT73kUaNgRKE_DW_xIgp5g1t_N49n0HaUiblvsAAaR-1sksSWjQHLpZ_R&amp;csui=3" TargetMode="External" Type="http://schemas.openxmlformats.org/officeDocument/2006/relationships/hyperlink"/></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4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34495E"/>
        </a:solidFill>
      </p:bgPr>
    </p:bg>
    <p:spTree>
      <p:nvGrpSpPr>
        <p:cNvPr id="1" name=""/>
        <p:cNvGrpSpPr/>
        <p:nvPr/>
      </p:nvGrpSpPr>
      <p:grpSpPr>
        <a:xfrm>
          <a:off x="0" y="0"/>
          <a:ext cx="0" cy="0"/>
          <a:chOff x="0" y="0"/>
          <a:chExt cx="0" cy="0"/>
        </a:xfrm>
      </p:grpSpPr>
      <p:sp>
        <p:nvSpPr>
          <p:cNvPr name="Freeform 2" id="2"/>
          <p:cNvSpPr/>
          <p:nvPr/>
        </p:nvSpPr>
        <p:spPr>
          <a:xfrm flipH="false" flipV="false" rot="0">
            <a:off x="-338073" y="4007702"/>
            <a:ext cx="2205514" cy="2271597"/>
          </a:xfrm>
          <a:custGeom>
            <a:avLst/>
            <a:gdLst/>
            <a:ahLst/>
            <a:cxnLst/>
            <a:rect r="r" b="b" t="t" l="l"/>
            <a:pathLst>
              <a:path h="2271597" w="2205514">
                <a:moveTo>
                  <a:pt x="0" y="0"/>
                </a:moveTo>
                <a:lnTo>
                  <a:pt x="2205514" y="0"/>
                </a:lnTo>
                <a:lnTo>
                  <a:pt x="2205514" y="2271596"/>
                </a:lnTo>
                <a:lnTo>
                  <a:pt x="0" y="22715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08036" y="2464379"/>
            <a:ext cx="15071928" cy="5681838"/>
            <a:chOff x="0" y="0"/>
            <a:chExt cx="3969561" cy="1496451"/>
          </a:xfrm>
        </p:grpSpPr>
        <p:sp>
          <p:nvSpPr>
            <p:cNvPr name="Freeform 4" id="4"/>
            <p:cNvSpPr/>
            <p:nvPr/>
          </p:nvSpPr>
          <p:spPr>
            <a:xfrm flipH="false" flipV="false" rot="0">
              <a:off x="0" y="0"/>
              <a:ext cx="3969561" cy="1496451"/>
            </a:xfrm>
            <a:custGeom>
              <a:avLst/>
              <a:gdLst/>
              <a:ahLst/>
              <a:cxnLst/>
              <a:rect r="r" b="b" t="t" l="l"/>
              <a:pathLst>
                <a:path h="1496451" w="3969561">
                  <a:moveTo>
                    <a:pt x="26197" y="0"/>
                  </a:moveTo>
                  <a:lnTo>
                    <a:pt x="3943364" y="0"/>
                  </a:lnTo>
                  <a:cubicBezTo>
                    <a:pt x="3950312" y="0"/>
                    <a:pt x="3956976" y="2760"/>
                    <a:pt x="3961888" y="7673"/>
                  </a:cubicBezTo>
                  <a:cubicBezTo>
                    <a:pt x="3966801" y="12586"/>
                    <a:pt x="3969561" y="19249"/>
                    <a:pt x="3969561" y="26197"/>
                  </a:cubicBezTo>
                  <a:lnTo>
                    <a:pt x="3969561" y="1470254"/>
                  </a:lnTo>
                  <a:cubicBezTo>
                    <a:pt x="3969561" y="1477202"/>
                    <a:pt x="3966801" y="1483865"/>
                    <a:pt x="3961888" y="1488778"/>
                  </a:cubicBezTo>
                  <a:cubicBezTo>
                    <a:pt x="3956976" y="1493691"/>
                    <a:pt x="3950312" y="1496451"/>
                    <a:pt x="3943364" y="1496451"/>
                  </a:cubicBezTo>
                  <a:lnTo>
                    <a:pt x="26197" y="1496451"/>
                  </a:lnTo>
                  <a:cubicBezTo>
                    <a:pt x="19249" y="1496451"/>
                    <a:pt x="12586" y="1493691"/>
                    <a:pt x="7673" y="1488778"/>
                  </a:cubicBezTo>
                  <a:cubicBezTo>
                    <a:pt x="2760" y="1483865"/>
                    <a:pt x="0" y="1477202"/>
                    <a:pt x="0" y="1470254"/>
                  </a:cubicBezTo>
                  <a:lnTo>
                    <a:pt x="0" y="26197"/>
                  </a:lnTo>
                  <a:cubicBezTo>
                    <a:pt x="0" y="19249"/>
                    <a:pt x="2760" y="12586"/>
                    <a:pt x="7673" y="7673"/>
                  </a:cubicBezTo>
                  <a:cubicBezTo>
                    <a:pt x="12586" y="2760"/>
                    <a:pt x="19249" y="0"/>
                    <a:pt x="26197" y="0"/>
                  </a:cubicBezTo>
                  <a:close/>
                </a:path>
              </a:pathLst>
            </a:custGeom>
            <a:solidFill>
              <a:srgbClr val="A8D0F0"/>
            </a:solidFill>
            <a:ln cap="rnd">
              <a:noFill/>
              <a:prstDash val="solid"/>
              <a:round/>
            </a:ln>
          </p:spPr>
        </p:sp>
        <p:sp>
          <p:nvSpPr>
            <p:cNvPr name="TextBox 5" id="5"/>
            <p:cNvSpPr txBox="true"/>
            <p:nvPr/>
          </p:nvSpPr>
          <p:spPr>
            <a:xfrm>
              <a:off x="0" y="-76200"/>
              <a:ext cx="3969561" cy="1572651"/>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6435254" y="1906187"/>
            <a:ext cx="5417493" cy="792789"/>
            <a:chOff x="0" y="0"/>
            <a:chExt cx="1426829" cy="208800"/>
          </a:xfrm>
        </p:grpSpPr>
        <p:sp>
          <p:nvSpPr>
            <p:cNvPr name="Freeform 7" id="7"/>
            <p:cNvSpPr/>
            <p:nvPr/>
          </p:nvSpPr>
          <p:spPr>
            <a:xfrm flipH="false" flipV="false" rot="0">
              <a:off x="0" y="0"/>
              <a:ext cx="1426829" cy="208800"/>
            </a:xfrm>
            <a:custGeom>
              <a:avLst/>
              <a:gdLst/>
              <a:ahLst/>
              <a:cxnLst/>
              <a:rect r="r" b="b" t="t" l="l"/>
              <a:pathLst>
                <a:path h="208800" w="1426829">
                  <a:moveTo>
                    <a:pt x="72882" y="0"/>
                  </a:moveTo>
                  <a:lnTo>
                    <a:pt x="1353947" y="0"/>
                  </a:lnTo>
                  <a:cubicBezTo>
                    <a:pt x="1373277" y="0"/>
                    <a:pt x="1391815" y="7679"/>
                    <a:pt x="1405483" y="21347"/>
                  </a:cubicBezTo>
                  <a:cubicBezTo>
                    <a:pt x="1419151" y="35015"/>
                    <a:pt x="1426829" y="53553"/>
                    <a:pt x="1426829" y="72882"/>
                  </a:cubicBezTo>
                  <a:lnTo>
                    <a:pt x="1426829" y="135918"/>
                  </a:lnTo>
                  <a:cubicBezTo>
                    <a:pt x="1426829" y="155248"/>
                    <a:pt x="1419151" y="173786"/>
                    <a:pt x="1405483" y="187454"/>
                  </a:cubicBezTo>
                  <a:cubicBezTo>
                    <a:pt x="1391815" y="201122"/>
                    <a:pt x="1373277" y="208800"/>
                    <a:pt x="1353947" y="208800"/>
                  </a:cubicBezTo>
                  <a:lnTo>
                    <a:pt x="72882" y="208800"/>
                  </a:lnTo>
                  <a:cubicBezTo>
                    <a:pt x="53553" y="208800"/>
                    <a:pt x="35015" y="201122"/>
                    <a:pt x="21347" y="187454"/>
                  </a:cubicBezTo>
                  <a:cubicBezTo>
                    <a:pt x="7679" y="173786"/>
                    <a:pt x="0" y="155248"/>
                    <a:pt x="0" y="135918"/>
                  </a:cubicBezTo>
                  <a:lnTo>
                    <a:pt x="0" y="72882"/>
                  </a:lnTo>
                  <a:cubicBezTo>
                    <a:pt x="0" y="53553"/>
                    <a:pt x="7679" y="35015"/>
                    <a:pt x="21347" y="21347"/>
                  </a:cubicBezTo>
                  <a:cubicBezTo>
                    <a:pt x="35015" y="7679"/>
                    <a:pt x="53553" y="0"/>
                    <a:pt x="72882" y="0"/>
                  </a:cubicBezTo>
                  <a:close/>
                </a:path>
              </a:pathLst>
            </a:custGeom>
            <a:solidFill>
              <a:srgbClr val="FFFFFF"/>
            </a:solidFill>
          </p:spPr>
        </p:sp>
        <p:sp>
          <p:nvSpPr>
            <p:cNvPr name="TextBox 8" id="8"/>
            <p:cNvSpPr txBox="true"/>
            <p:nvPr/>
          </p:nvSpPr>
          <p:spPr>
            <a:xfrm>
              <a:off x="0" y="-114300"/>
              <a:ext cx="1426829" cy="323100"/>
            </a:xfrm>
            <a:prstGeom prst="rect">
              <a:avLst/>
            </a:prstGeom>
          </p:spPr>
          <p:txBody>
            <a:bodyPr anchor="ctr" rtlCol="false" tIns="50800" lIns="50800" bIns="50800" rIns="50800"/>
            <a:lstStyle/>
            <a:p>
              <a:pPr algn="ctr">
                <a:lnSpc>
                  <a:spcPts val="3639"/>
                </a:lnSpc>
              </a:pPr>
              <a:r>
                <a:rPr lang="en-US" sz="2599">
                  <a:solidFill>
                    <a:srgbClr val="073939"/>
                  </a:solidFill>
                  <a:latin typeface="Mero Thai"/>
                  <a:ea typeface="Mero Thai"/>
                  <a:cs typeface="Mero Thai"/>
                  <a:sym typeface="Mero Thai"/>
                </a:rPr>
                <a:t>MATERIA: IDBRSI</a:t>
              </a:r>
            </a:p>
          </p:txBody>
        </p:sp>
      </p:grpSp>
      <p:sp>
        <p:nvSpPr>
          <p:cNvPr name="TextBox 9" id="9"/>
          <p:cNvSpPr txBox="true"/>
          <p:nvPr/>
        </p:nvSpPr>
        <p:spPr>
          <a:xfrm rot="0">
            <a:off x="1875874" y="4494627"/>
            <a:ext cx="14536252" cy="2360287"/>
          </a:xfrm>
          <a:prstGeom prst="rect">
            <a:avLst/>
          </a:prstGeom>
        </p:spPr>
        <p:txBody>
          <a:bodyPr anchor="t" rtlCol="false" tIns="0" lIns="0" bIns="0" rIns="0">
            <a:spAutoFit/>
          </a:bodyPr>
          <a:lstStyle/>
          <a:p>
            <a:pPr algn="ctr">
              <a:lnSpc>
                <a:spcPts val="18238"/>
              </a:lnSpc>
            </a:pPr>
            <a:r>
              <a:rPr lang="en-US" sz="15999">
                <a:solidFill>
                  <a:srgbClr val="2C5371"/>
                </a:solidFill>
                <a:latin typeface="Intro Rust"/>
                <a:ea typeface="Intro Rust"/>
                <a:cs typeface="Intro Rust"/>
                <a:sym typeface="Intro Rust"/>
              </a:rPr>
              <a:t>swagger</a:t>
            </a:r>
          </a:p>
        </p:txBody>
      </p:sp>
      <p:sp>
        <p:nvSpPr>
          <p:cNvPr name="TextBox 10" id="10"/>
          <p:cNvSpPr txBox="true"/>
          <p:nvPr/>
        </p:nvSpPr>
        <p:spPr>
          <a:xfrm rot="0">
            <a:off x="2783108" y="6995096"/>
            <a:ext cx="12798736" cy="715645"/>
          </a:xfrm>
          <a:prstGeom prst="rect">
            <a:avLst/>
          </a:prstGeom>
        </p:spPr>
        <p:txBody>
          <a:bodyPr anchor="t" rtlCol="false" tIns="0" lIns="0" bIns="0" rIns="0">
            <a:spAutoFit/>
          </a:bodyPr>
          <a:lstStyle/>
          <a:p>
            <a:pPr algn="ctr">
              <a:lnSpc>
                <a:spcPts val="5179"/>
              </a:lnSpc>
            </a:pPr>
            <a:r>
              <a:rPr lang="en-US" sz="3699">
                <a:solidFill>
                  <a:srgbClr val="FFFFFF"/>
                </a:solidFill>
                <a:latin typeface="Mero Thai"/>
                <a:ea typeface="Mero Thai"/>
                <a:cs typeface="Mero Thai"/>
                <a:sym typeface="Mero Thai"/>
              </a:rPr>
              <a:t>Eduardo Leonel Navarro Avila 4-i</a:t>
            </a:r>
          </a:p>
        </p:txBody>
      </p:sp>
      <p:sp>
        <p:nvSpPr>
          <p:cNvPr name="Freeform 11" id="11"/>
          <p:cNvSpPr/>
          <p:nvPr/>
        </p:nvSpPr>
        <p:spPr>
          <a:xfrm flipH="false" flipV="false" rot="1036696">
            <a:off x="3342864" y="8553362"/>
            <a:ext cx="1547911" cy="2702702"/>
          </a:xfrm>
          <a:custGeom>
            <a:avLst/>
            <a:gdLst/>
            <a:ahLst/>
            <a:cxnLst/>
            <a:rect r="r" b="b" t="t" l="l"/>
            <a:pathLst>
              <a:path h="2702702" w="1547911">
                <a:moveTo>
                  <a:pt x="0" y="0"/>
                </a:moveTo>
                <a:lnTo>
                  <a:pt x="1547911" y="0"/>
                </a:lnTo>
                <a:lnTo>
                  <a:pt x="1547911" y="2702702"/>
                </a:lnTo>
                <a:lnTo>
                  <a:pt x="0" y="27027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818161">
            <a:off x="-30042" y="8315171"/>
            <a:ext cx="1657468" cy="2234331"/>
          </a:xfrm>
          <a:custGeom>
            <a:avLst/>
            <a:gdLst/>
            <a:ahLst/>
            <a:cxnLst/>
            <a:rect r="r" b="b" t="t" l="l"/>
            <a:pathLst>
              <a:path h="2234331" w="1657468">
                <a:moveTo>
                  <a:pt x="0" y="0"/>
                </a:moveTo>
                <a:lnTo>
                  <a:pt x="1657467" y="0"/>
                </a:lnTo>
                <a:lnTo>
                  <a:pt x="1657467" y="2234332"/>
                </a:lnTo>
                <a:lnTo>
                  <a:pt x="0" y="22343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1057675">
            <a:off x="16502170" y="6462428"/>
            <a:ext cx="2352168" cy="3043982"/>
          </a:xfrm>
          <a:custGeom>
            <a:avLst/>
            <a:gdLst/>
            <a:ahLst/>
            <a:cxnLst/>
            <a:rect r="r" b="b" t="t" l="l"/>
            <a:pathLst>
              <a:path h="3043982" w="2352168">
                <a:moveTo>
                  <a:pt x="0" y="0"/>
                </a:moveTo>
                <a:lnTo>
                  <a:pt x="2352167" y="0"/>
                </a:lnTo>
                <a:lnTo>
                  <a:pt x="2352167" y="3043982"/>
                </a:lnTo>
                <a:lnTo>
                  <a:pt x="0" y="30439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1107100">
            <a:off x="4718619" y="-416222"/>
            <a:ext cx="2008771" cy="2057400"/>
          </a:xfrm>
          <a:custGeom>
            <a:avLst/>
            <a:gdLst/>
            <a:ahLst/>
            <a:cxnLst/>
            <a:rect r="r" b="b" t="t" l="l"/>
            <a:pathLst>
              <a:path h="2057400" w="2008771">
                <a:moveTo>
                  <a:pt x="0" y="0"/>
                </a:moveTo>
                <a:lnTo>
                  <a:pt x="2008771" y="0"/>
                </a:lnTo>
                <a:lnTo>
                  <a:pt x="2008771"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6625603" y="8510048"/>
            <a:ext cx="5036794" cy="4029435"/>
          </a:xfrm>
          <a:custGeom>
            <a:avLst/>
            <a:gdLst/>
            <a:ahLst/>
            <a:cxnLst/>
            <a:rect r="r" b="b" t="t" l="l"/>
            <a:pathLst>
              <a:path h="4029435" w="5036794">
                <a:moveTo>
                  <a:pt x="0" y="0"/>
                </a:moveTo>
                <a:lnTo>
                  <a:pt x="5036794" y="0"/>
                </a:lnTo>
                <a:lnTo>
                  <a:pt x="5036794" y="4029435"/>
                </a:lnTo>
                <a:lnTo>
                  <a:pt x="0" y="402943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6" id="16"/>
          <p:cNvSpPr/>
          <p:nvPr/>
        </p:nvSpPr>
        <p:spPr>
          <a:xfrm flipH="false" flipV="false" rot="-639892">
            <a:off x="13385276" y="8581929"/>
            <a:ext cx="2343117" cy="2240872"/>
          </a:xfrm>
          <a:custGeom>
            <a:avLst/>
            <a:gdLst/>
            <a:ahLst/>
            <a:cxnLst/>
            <a:rect r="r" b="b" t="t" l="l"/>
            <a:pathLst>
              <a:path h="2240872" w="2343117">
                <a:moveTo>
                  <a:pt x="0" y="0"/>
                </a:moveTo>
                <a:lnTo>
                  <a:pt x="2343117" y="0"/>
                </a:lnTo>
                <a:lnTo>
                  <a:pt x="2343117" y="2240871"/>
                </a:lnTo>
                <a:lnTo>
                  <a:pt x="0" y="224087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7" id="17"/>
          <p:cNvSpPr/>
          <p:nvPr/>
        </p:nvSpPr>
        <p:spPr>
          <a:xfrm flipH="false" flipV="false" rot="806983">
            <a:off x="17210237" y="1066563"/>
            <a:ext cx="1580804" cy="2795634"/>
          </a:xfrm>
          <a:custGeom>
            <a:avLst/>
            <a:gdLst/>
            <a:ahLst/>
            <a:cxnLst/>
            <a:rect r="r" b="b" t="t" l="l"/>
            <a:pathLst>
              <a:path h="2795634" w="1580804">
                <a:moveTo>
                  <a:pt x="0" y="0"/>
                </a:moveTo>
                <a:lnTo>
                  <a:pt x="1580804" y="0"/>
                </a:lnTo>
                <a:lnTo>
                  <a:pt x="1580804" y="2795633"/>
                </a:lnTo>
                <a:lnTo>
                  <a:pt x="0" y="279563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8" id="18"/>
          <p:cNvSpPr/>
          <p:nvPr/>
        </p:nvSpPr>
        <p:spPr>
          <a:xfrm flipH="false" flipV="false" rot="-832757">
            <a:off x="8540947" y="-1480745"/>
            <a:ext cx="2389865" cy="2778912"/>
          </a:xfrm>
          <a:custGeom>
            <a:avLst/>
            <a:gdLst/>
            <a:ahLst/>
            <a:cxnLst/>
            <a:rect r="r" b="b" t="t" l="l"/>
            <a:pathLst>
              <a:path h="2778912" w="2389865">
                <a:moveTo>
                  <a:pt x="0" y="0"/>
                </a:moveTo>
                <a:lnTo>
                  <a:pt x="2389864" y="0"/>
                </a:lnTo>
                <a:lnTo>
                  <a:pt x="2389864" y="2778912"/>
                </a:lnTo>
                <a:lnTo>
                  <a:pt x="0" y="2778912"/>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9" id="19"/>
          <p:cNvSpPr/>
          <p:nvPr/>
        </p:nvSpPr>
        <p:spPr>
          <a:xfrm flipH="false" flipV="false" rot="-656220">
            <a:off x="12929071" y="-456013"/>
            <a:ext cx="2640671" cy="2362200"/>
          </a:xfrm>
          <a:custGeom>
            <a:avLst/>
            <a:gdLst/>
            <a:ahLst/>
            <a:cxnLst/>
            <a:rect r="r" b="b" t="t" l="l"/>
            <a:pathLst>
              <a:path h="2362200" w="2640671">
                <a:moveTo>
                  <a:pt x="0" y="0"/>
                </a:moveTo>
                <a:lnTo>
                  <a:pt x="2640671" y="0"/>
                </a:lnTo>
                <a:lnTo>
                  <a:pt x="2640671" y="2362200"/>
                </a:lnTo>
                <a:lnTo>
                  <a:pt x="0" y="236220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20" id="20"/>
          <p:cNvSpPr/>
          <p:nvPr/>
        </p:nvSpPr>
        <p:spPr>
          <a:xfrm flipH="false" flipV="false" rot="0">
            <a:off x="-146184" y="245181"/>
            <a:ext cx="3508440" cy="2940711"/>
          </a:xfrm>
          <a:custGeom>
            <a:avLst/>
            <a:gdLst/>
            <a:ahLst/>
            <a:cxnLst/>
            <a:rect r="r" b="b" t="t" l="l"/>
            <a:pathLst>
              <a:path h="2940711" w="3508440">
                <a:moveTo>
                  <a:pt x="0" y="0"/>
                </a:moveTo>
                <a:lnTo>
                  <a:pt x="3508440" y="0"/>
                </a:lnTo>
                <a:lnTo>
                  <a:pt x="3508440" y="2940711"/>
                </a:lnTo>
                <a:lnTo>
                  <a:pt x="0" y="2940711"/>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TextBox 21" id="21"/>
          <p:cNvSpPr txBox="true"/>
          <p:nvPr/>
        </p:nvSpPr>
        <p:spPr>
          <a:xfrm rot="0">
            <a:off x="3965764" y="3214467"/>
            <a:ext cx="10356472" cy="1184910"/>
          </a:xfrm>
          <a:prstGeom prst="rect">
            <a:avLst/>
          </a:prstGeom>
        </p:spPr>
        <p:txBody>
          <a:bodyPr anchor="t" rtlCol="false" tIns="0" lIns="0" bIns="0" rIns="0">
            <a:spAutoFit/>
          </a:bodyPr>
          <a:lstStyle/>
          <a:p>
            <a:pPr algn="ctr">
              <a:lnSpc>
                <a:spcPts val="9120"/>
              </a:lnSpc>
            </a:pPr>
            <a:r>
              <a:rPr lang="en-US" sz="8000">
                <a:solidFill>
                  <a:srgbClr val="2C5371"/>
                </a:solidFill>
                <a:latin typeface="Intro Rust"/>
                <a:ea typeface="Intro Rust"/>
                <a:cs typeface="Intro Rust"/>
                <a:sym typeface="Intro Rust"/>
              </a:rPr>
              <a:t>introucción 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1EFFA"/>
        </a:solidFill>
      </p:bgPr>
    </p:bg>
    <p:spTree>
      <p:nvGrpSpPr>
        <p:cNvPr id="1" name=""/>
        <p:cNvGrpSpPr/>
        <p:nvPr/>
      </p:nvGrpSpPr>
      <p:grpSpPr>
        <a:xfrm>
          <a:off x="0" y="0"/>
          <a:ext cx="0" cy="0"/>
          <a:chOff x="0" y="0"/>
          <a:chExt cx="0" cy="0"/>
        </a:xfrm>
      </p:grpSpPr>
      <p:sp>
        <p:nvSpPr>
          <p:cNvPr name="Freeform 2" id="2"/>
          <p:cNvSpPr/>
          <p:nvPr/>
        </p:nvSpPr>
        <p:spPr>
          <a:xfrm flipH="false" flipV="false" rot="0">
            <a:off x="12025853" y="4871720"/>
            <a:ext cx="5233447" cy="4386580"/>
          </a:xfrm>
          <a:custGeom>
            <a:avLst/>
            <a:gdLst/>
            <a:ahLst/>
            <a:cxnLst/>
            <a:rect r="r" b="b" t="t" l="l"/>
            <a:pathLst>
              <a:path h="4386580" w="5233447">
                <a:moveTo>
                  <a:pt x="0" y="0"/>
                </a:moveTo>
                <a:lnTo>
                  <a:pt x="5233447" y="0"/>
                </a:lnTo>
                <a:lnTo>
                  <a:pt x="5233447" y="4386580"/>
                </a:lnTo>
                <a:lnTo>
                  <a:pt x="0" y="43865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028700" y="1027841"/>
            <a:ext cx="2002153" cy="2591021"/>
          </a:xfrm>
          <a:custGeom>
            <a:avLst/>
            <a:gdLst/>
            <a:ahLst/>
            <a:cxnLst/>
            <a:rect r="r" b="b" t="t" l="l"/>
            <a:pathLst>
              <a:path h="2591021" w="2002153">
                <a:moveTo>
                  <a:pt x="0" y="0"/>
                </a:moveTo>
                <a:lnTo>
                  <a:pt x="2002153" y="0"/>
                </a:lnTo>
                <a:lnTo>
                  <a:pt x="2002153" y="2591021"/>
                </a:lnTo>
                <a:lnTo>
                  <a:pt x="0" y="25910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grpSp>
        <p:nvGrpSpPr>
          <p:cNvPr name="Group 4" id="4"/>
          <p:cNvGrpSpPr/>
          <p:nvPr/>
        </p:nvGrpSpPr>
        <p:grpSpPr>
          <a:xfrm rot="0">
            <a:off x="3913809" y="1027841"/>
            <a:ext cx="13345491" cy="2196852"/>
            <a:chOff x="0" y="0"/>
            <a:chExt cx="17793988" cy="2929136"/>
          </a:xfrm>
        </p:grpSpPr>
        <p:sp>
          <p:nvSpPr>
            <p:cNvPr name="TextBox 5" id="5"/>
            <p:cNvSpPr txBox="true"/>
            <p:nvPr/>
          </p:nvSpPr>
          <p:spPr>
            <a:xfrm rot="0">
              <a:off x="0" y="-133350"/>
              <a:ext cx="17793988" cy="1525615"/>
            </a:xfrm>
            <a:prstGeom prst="rect">
              <a:avLst/>
            </a:prstGeom>
          </p:spPr>
          <p:txBody>
            <a:bodyPr anchor="t" rtlCol="false" tIns="0" lIns="0" bIns="0" rIns="0">
              <a:spAutoFit/>
            </a:bodyPr>
            <a:lstStyle/>
            <a:p>
              <a:pPr algn="l">
                <a:lnSpc>
                  <a:spcPts val="9645"/>
                </a:lnSpc>
              </a:pPr>
              <a:r>
                <a:rPr lang="en-US" sz="6889">
                  <a:solidFill>
                    <a:srgbClr val="34495E"/>
                  </a:solidFill>
                  <a:latin typeface="Intro Rust"/>
                  <a:ea typeface="Intro Rust"/>
                  <a:cs typeface="Intro Rust"/>
                  <a:sym typeface="Intro Rust"/>
                </a:rPr>
                <a:t>¿Que es Flask?</a:t>
              </a:r>
            </a:p>
          </p:txBody>
        </p:sp>
        <p:sp>
          <p:nvSpPr>
            <p:cNvPr name="TextBox 6" id="6"/>
            <p:cNvSpPr txBox="true"/>
            <p:nvPr/>
          </p:nvSpPr>
          <p:spPr>
            <a:xfrm rot="0">
              <a:off x="0" y="1356324"/>
              <a:ext cx="17793988" cy="1572812"/>
            </a:xfrm>
            <a:prstGeom prst="rect">
              <a:avLst/>
            </a:prstGeom>
          </p:spPr>
          <p:txBody>
            <a:bodyPr anchor="t" rtlCol="false" tIns="0" lIns="0" bIns="0" rIns="0">
              <a:spAutoFit/>
            </a:bodyPr>
            <a:lstStyle/>
            <a:p>
              <a:pPr algn="l">
                <a:lnSpc>
                  <a:spcPts val="9007"/>
                </a:lnSpc>
              </a:pPr>
              <a:r>
                <a:rPr lang="en-US" sz="6433">
                  <a:solidFill>
                    <a:srgbClr val="5A99D1"/>
                  </a:solidFill>
                  <a:latin typeface="Mero Thai"/>
                  <a:ea typeface="Mero Thai"/>
                  <a:cs typeface="Mero Thai"/>
                  <a:sym typeface="Mero Thai"/>
                </a:rPr>
                <a:t>-FLASK-</a:t>
              </a:r>
            </a:p>
          </p:txBody>
        </p:sp>
      </p:grpSp>
      <p:grpSp>
        <p:nvGrpSpPr>
          <p:cNvPr name="Group 7" id="7"/>
          <p:cNvGrpSpPr/>
          <p:nvPr/>
        </p:nvGrpSpPr>
        <p:grpSpPr>
          <a:xfrm rot="0">
            <a:off x="1031177" y="4935774"/>
            <a:ext cx="5010325" cy="3446226"/>
            <a:chOff x="0" y="0"/>
            <a:chExt cx="6680433" cy="4594968"/>
          </a:xfrm>
        </p:grpSpPr>
        <p:sp>
          <p:nvSpPr>
            <p:cNvPr name="TextBox 8" id="8"/>
            <p:cNvSpPr txBox="true"/>
            <p:nvPr/>
          </p:nvSpPr>
          <p:spPr>
            <a:xfrm rot="0">
              <a:off x="0" y="1079184"/>
              <a:ext cx="6680433" cy="3515784"/>
            </a:xfrm>
            <a:prstGeom prst="rect">
              <a:avLst/>
            </a:prstGeom>
          </p:spPr>
          <p:txBody>
            <a:bodyPr anchor="t" rtlCol="false" tIns="0" lIns="0" bIns="0" rIns="0">
              <a:spAutoFit/>
            </a:bodyPr>
            <a:lstStyle/>
            <a:p>
              <a:pPr algn="l">
                <a:lnSpc>
                  <a:spcPts val="3499"/>
                </a:lnSpc>
              </a:pPr>
              <a:r>
                <a:rPr lang="en-US" sz="2499">
                  <a:solidFill>
                    <a:srgbClr val="34495E"/>
                  </a:solidFill>
                  <a:latin typeface="Mero Thai"/>
                  <a:ea typeface="Mero Thai"/>
                  <a:cs typeface="Mero Thai"/>
                  <a:sym typeface="Mero Thai"/>
                </a:rPr>
                <a:t>Flask es un framework ligero para aplicaciones web WSGI. Está diseñado para que empezar sea rápido y sencillo, con la capacidad de escalar a aplicaciones complejas.</a:t>
              </a:r>
            </a:p>
          </p:txBody>
        </p:sp>
        <p:sp>
          <p:nvSpPr>
            <p:cNvPr name="TextBox 9" id="9"/>
            <p:cNvSpPr txBox="true"/>
            <p:nvPr/>
          </p:nvSpPr>
          <p:spPr>
            <a:xfrm rot="0">
              <a:off x="0" y="-142875"/>
              <a:ext cx="6680433" cy="871854"/>
            </a:xfrm>
            <a:prstGeom prst="rect">
              <a:avLst/>
            </a:prstGeom>
          </p:spPr>
          <p:txBody>
            <a:bodyPr anchor="t" rtlCol="false" tIns="0" lIns="0" bIns="0" rIns="0">
              <a:spAutoFit/>
            </a:bodyPr>
            <a:lstStyle/>
            <a:p>
              <a:pPr algn="l">
                <a:lnSpc>
                  <a:spcPts val="5040"/>
                </a:lnSpc>
              </a:pPr>
              <a:r>
                <a:rPr lang="en-US" sz="3600">
                  <a:solidFill>
                    <a:srgbClr val="5A99D1"/>
                  </a:solidFill>
                  <a:latin typeface="Mero Thai"/>
                  <a:ea typeface="Mero Thai"/>
                  <a:cs typeface="Mero Thai"/>
                  <a:sym typeface="Mero Thai"/>
                </a:rPr>
                <a:t>QUE ES:</a:t>
              </a:r>
            </a:p>
          </p:txBody>
        </p:sp>
      </p:grpSp>
      <p:grpSp>
        <p:nvGrpSpPr>
          <p:cNvPr name="Group 10" id="10"/>
          <p:cNvGrpSpPr/>
          <p:nvPr/>
        </p:nvGrpSpPr>
        <p:grpSpPr>
          <a:xfrm rot="0">
            <a:off x="6527276" y="4935774"/>
            <a:ext cx="5010325" cy="4322526"/>
            <a:chOff x="0" y="0"/>
            <a:chExt cx="6680433" cy="5763368"/>
          </a:xfrm>
        </p:grpSpPr>
        <p:sp>
          <p:nvSpPr>
            <p:cNvPr name="TextBox 11" id="11"/>
            <p:cNvSpPr txBox="true"/>
            <p:nvPr/>
          </p:nvSpPr>
          <p:spPr>
            <a:xfrm rot="0">
              <a:off x="0" y="1079184"/>
              <a:ext cx="6680433" cy="4684184"/>
            </a:xfrm>
            <a:prstGeom prst="rect">
              <a:avLst/>
            </a:prstGeom>
          </p:spPr>
          <p:txBody>
            <a:bodyPr anchor="t" rtlCol="false" tIns="0" lIns="0" bIns="0" rIns="0">
              <a:spAutoFit/>
            </a:bodyPr>
            <a:lstStyle/>
            <a:p>
              <a:pPr algn="l">
                <a:lnSpc>
                  <a:spcPts val="3499"/>
                </a:lnSpc>
              </a:pPr>
              <a:r>
                <a:rPr lang="en-US" sz="2499">
                  <a:solidFill>
                    <a:srgbClr val="34495E"/>
                  </a:solidFill>
                  <a:latin typeface="Mero Thai"/>
                  <a:ea typeface="Mero Thai"/>
                  <a:cs typeface="Mero Thai"/>
                  <a:sym typeface="Mero Thai"/>
                </a:rPr>
                <a:t>Flask fue creado por Armin Ronacher y lanzado por primera vez en 2010. Cuenta con una comunidad grande, que prefiere desarrollar proyectos usando Flask, antes que caer en alternativas más pesadas como Django.</a:t>
              </a:r>
            </a:p>
          </p:txBody>
        </p:sp>
        <p:sp>
          <p:nvSpPr>
            <p:cNvPr name="TextBox 12" id="12"/>
            <p:cNvSpPr txBox="true"/>
            <p:nvPr/>
          </p:nvSpPr>
          <p:spPr>
            <a:xfrm rot="0">
              <a:off x="0" y="-142875"/>
              <a:ext cx="6680433" cy="871854"/>
            </a:xfrm>
            <a:prstGeom prst="rect">
              <a:avLst/>
            </a:prstGeom>
          </p:spPr>
          <p:txBody>
            <a:bodyPr anchor="t" rtlCol="false" tIns="0" lIns="0" bIns="0" rIns="0">
              <a:spAutoFit/>
            </a:bodyPr>
            <a:lstStyle/>
            <a:p>
              <a:pPr algn="l">
                <a:lnSpc>
                  <a:spcPts val="5040"/>
                </a:lnSpc>
              </a:pPr>
              <a:r>
                <a:rPr lang="en-US" sz="3600">
                  <a:solidFill>
                    <a:srgbClr val="5A99D1"/>
                  </a:solidFill>
                  <a:latin typeface="Mero Thai"/>
                  <a:ea typeface="Mero Thai"/>
                  <a:cs typeface="Mero Thai"/>
                  <a:sym typeface="Mero Thai"/>
                </a:rPr>
                <a:t>HISTORIA</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1EFFA"/>
        </a:solidFill>
      </p:bgPr>
    </p:bg>
    <p:spTree>
      <p:nvGrpSpPr>
        <p:cNvPr id="1" name=""/>
        <p:cNvGrpSpPr/>
        <p:nvPr/>
      </p:nvGrpSpPr>
      <p:grpSpPr>
        <a:xfrm>
          <a:off x="0" y="0"/>
          <a:ext cx="0" cy="0"/>
          <a:chOff x="0" y="0"/>
          <a:chExt cx="0" cy="0"/>
        </a:xfrm>
      </p:grpSpPr>
      <p:grpSp>
        <p:nvGrpSpPr>
          <p:cNvPr name="Group 2" id="2"/>
          <p:cNvGrpSpPr/>
          <p:nvPr/>
        </p:nvGrpSpPr>
        <p:grpSpPr>
          <a:xfrm rot="0">
            <a:off x="8360939" y="929786"/>
            <a:ext cx="8257191" cy="8229625"/>
            <a:chOff x="0" y="0"/>
            <a:chExt cx="1279255" cy="1274984"/>
          </a:xfrm>
        </p:grpSpPr>
        <p:sp>
          <p:nvSpPr>
            <p:cNvPr name="Freeform 3" id="3"/>
            <p:cNvSpPr/>
            <p:nvPr/>
          </p:nvSpPr>
          <p:spPr>
            <a:xfrm flipH="false" flipV="false" rot="0">
              <a:off x="0" y="0"/>
              <a:ext cx="1279255" cy="1274984"/>
            </a:xfrm>
            <a:custGeom>
              <a:avLst/>
              <a:gdLst/>
              <a:ahLst/>
              <a:cxnLst/>
              <a:rect r="r" b="b" t="t" l="l"/>
              <a:pathLst>
                <a:path h="1274984" w="1279255">
                  <a:moveTo>
                    <a:pt x="21565" y="0"/>
                  </a:moveTo>
                  <a:lnTo>
                    <a:pt x="1257690" y="0"/>
                  </a:lnTo>
                  <a:cubicBezTo>
                    <a:pt x="1263409" y="0"/>
                    <a:pt x="1268895" y="2272"/>
                    <a:pt x="1272939" y="6316"/>
                  </a:cubicBezTo>
                  <a:cubicBezTo>
                    <a:pt x="1276983" y="10360"/>
                    <a:pt x="1279255" y="15845"/>
                    <a:pt x="1279255" y="21565"/>
                  </a:cubicBezTo>
                  <a:lnTo>
                    <a:pt x="1279255" y="1253420"/>
                  </a:lnTo>
                  <a:cubicBezTo>
                    <a:pt x="1279255" y="1265329"/>
                    <a:pt x="1269600" y="1274984"/>
                    <a:pt x="1257690" y="1274984"/>
                  </a:cubicBezTo>
                  <a:lnTo>
                    <a:pt x="21565" y="1274984"/>
                  </a:lnTo>
                  <a:cubicBezTo>
                    <a:pt x="15845" y="1274984"/>
                    <a:pt x="10360" y="1272712"/>
                    <a:pt x="6316" y="1268668"/>
                  </a:cubicBezTo>
                  <a:cubicBezTo>
                    <a:pt x="2272" y="1264624"/>
                    <a:pt x="0" y="1259139"/>
                    <a:pt x="0" y="1253420"/>
                  </a:cubicBezTo>
                  <a:lnTo>
                    <a:pt x="0" y="21565"/>
                  </a:lnTo>
                  <a:cubicBezTo>
                    <a:pt x="0" y="15845"/>
                    <a:pt x="2272" y="10360"/>
                    <a:pt x="6316" y="6316"/>
                  </a:cubicBezTo>
                  <a:cubicBezTo>
                    <a:pt x="10360" y="2272"/>
                    <a:pt x="15845" y="0"/>
                    <a:pt x="21565" y="0"/>
                  </a:cubicBezTo>
                  <a:close/>
                </a:path>
              </a:pathLst>
            </a:custGeom>
            <a:blipFill>
              <a:blip r:embed="rId2"/>
              <a:stretch>
                <a:fillRect l="-24749" t="0" r="-24749" b="0"/>
              </a:stretch>
            </a:blipFill>
          </p:spPr>
        </p:sp>
      </p:grpSp>
      <p:sp>
        <p:nvSpPr>
          <p:cNvPr name="Freeform 4" id="4"/>
          <p:cNvSpPr/>
          <p:nvPr/>
        </p:nvSpPr>
        <p:spPr>
          <a:xfrm flipH="false" flipV="false" rot="0">
            <a:off x="15695840" y="6559777"/>
            <a:ext cx="2592160" cy="3072603"/>
          </a:xfrm>
          <a:custGeom>
            <a:avLst/>
            <a:gdLst/>
            <a:ahLst/>
            <a:cxnLst/>
            <a:rect r="r" b="b" t="t" l="l"/>
            <a:pathLst>
              <a:path h="3072603" w="2592160">
                <a:moveTo>
                  <a:pt x="0" y="0"/>
                </a:moveTo>
                <a:lnTo>
                  <a:pt x="2592160" y="0"/>
                </a:lnTo>
                <a:lnTo>
                  <a:pt x="2592160" y="3072603"/>
                </a:lnTo>
                <a:lnTo>
                  <a:pt x="0" y="30726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028700" y="3968750"/>
            <a:ext cx="5969773" cy="5289550"/>
          </a:xfrm>
          <a:prstGeom prst="rect">
            <a:avLst/>
          </a:prstGeom>
        </p:spPr>
        <p:txBody>
          <a:bodyPr anchor="t" rtlCol="false" tIns="0" lIns="0" bIns="0" rIns="0">
            <a:spAutoFit/>
          </a:bodyPr>
          <a:lstStyle/>
          <a:p>
            <a:pPr algn="l" marL="0" indent="0" lvl="0">
              <a:lnSpc>
                <a:spcPts val="3499"/>
              </a:lnSpc>
              <a:spcBef>
                <a:spcPct val="0"/>
              </a:spcBef>
            </a:pPr>
            <a:r>
              <a:rPr lang="en-US" sz="2499">
                <a:solidFill>
                  <a:srgbClr val="34495E"/>
                </a:solidFill>
                <a:latin typeface="Mero Thai"/>
                <a:ea typeface="Mero Thai"/>
                <a:cs typeface="Mero Thai"/>
                <a:sym typeface="Mero Thai"/>
              </a:rPr>
              <a:t>Un t</a:t>
            </a:r>
            <a:r>
              <a:rPr lang="en-US" sz="2499" strike="noStrike" u="none">
                <a:solidFill>
                  <a:srgbClr val="34495E"/>
                </a:solidFill>
                <a:latin typeface="Mero Thai"/>
                <a:ea typeface="Mero Thai"/>
                <a:cs typeface="Mero Thai"/>
                <a:sym typeface="Mero Thai"/>
              </a:rPr>
              <a:t>emplate en Flask es un archivo (generalmente HTML) que contiene datos estáticos junto con marcadores de posición para contenido dinámico, permitiendo generar páginas web personalizadas. Flask utiliza el motor de plantillas Jinja2 para procesar estos archivos, facilitando la separación de la lógica de Python y el diseño HTML, comúnmente guardados en una carpeta llamada templates.</a:t>
            </a:r>
          </a:p>
        </p:txBody>
      </p:sp>
      <p:grpSp>
        <p:nvGrpSpPr>
          <p:cNvPr name="Group 6" id="6"/>
          <p:cNvGrpSpPr/>
          <p:nvPr/>
        </p:nvGrpSpPr>
        <p:grpSpPr>
          <a:xfrm rot="0">
            <a:off x="0" y="1144100"/>
            <a:ext cx="10283276" cy="1787497"/>
            <a:chOff x="0" y="0"/>
            <a:chExt cx="13711034" cy="2383330"/>
          </a:xfrm>
        </p:grpSpPr>
        <p:sp>
          <p:nvSpPr>
            <p:cNvPr name="TextBox 7" id="7"/>
            <p:cNvSpPr txBox="true"/>
            <p:nvPr/>
          </p:nvSpPr>
          <p:spPr>
            <a:xfrm rot="0">
              <a:off x="0" y="-123825"/>
              <a:ext cx="11425023" cy="1308655"/>
            </a:xfrm>
            <a:prstGeom prst="rect">
              <a:avLst/>
            </a:prstGeom>
          </p:spPr>
          <p:txBody>
            <a:bodyPr anchor="t" rtlCol="false" tIns="0" lIns="0" bIns="0" rIns="0">
              <a:spAutoFit/>
            </a:bodyPr>
            <a:lstStyle/>
            <a:p>
              <a:pPr algn="l">
                <a:lnSpc>
                  <a:spcPts val="8245"/>
                </a:lnSpc>
              </a:pPr>
              <a:r>
                <a:rPr lang="en-US" sz="5889">
                  <a:solidFill>
                    <a:srgbClr val="34495E"/>
                  </a:solidFill>
                  <a:latin typeface="Intro Rust"/>
                  <a:ea typeface="Intro Rust"/>
                  <a:cs typeface="Intro Rust"/>
                  <a:sym typeface="Intro Rust"/>
                </a:rPr>
                <a:t>Que es un Template?</a:t>
              </a:r>
            </a:p>
          </p:txBody>
        </p:sp>
        <p:sp>
          <p:nvSpPr>
            <p:cNvPr name="TextBox 8" id="8"/>
            <p:cNvSpPr txBox="true"/>
            <p:nvPr/>
          </p:nvSpPr>
          <p:spPr>
            <a:xfrm rot="0">
              <a:off x="857378" y="1225090"/>
              <a:ext cx="12853656" cy="1158240"/>
            </a:xfrm>
            <a:prstGeom prst="rect">
              <a:avLst/>
            </a:prstGeom>
          </p:spPr>
          <p:txBody>
            <a:bodyPr anchor="t" rtlCol="false" tIns="0" lIns="0" bIns="0" rIns="0">
              <a:spAutoFit/>
            </a:bodyPr>
            <a:lstStyle/>
            <a:p>
              <a:pPr algn="l" marL="0" indent="0" lvl="0">
                <a:lnSpc>
                  <a:spcPts val="6719"/>
                </a:lnSpc>
                <a:spcBef>
                  <a:spcPct val="0"/>
                </a:spcBef>
              </a:pPr>
              <a:r>
                <a:rPr lang="en-US" sz="4799">
                  <a:solidFill>
                    <a:srgbClr val="5A99D1"/>
                  </a:solidFill>
                  <a:latin typeface="Mero Thai"/>
                  <a:ea typeface="Mero Thai"/>
                  <a:cs typeface="Mero Thai"/>
                  <a:sym typeface="Mero Thai"/>
                </a:rPr>
                <a:t>En Flask</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353860" y="297"/>
            <a:ext cx="6934140" cy="10287000"/>
          </a:xfrm>
          <a:custGeom>
            <a:avLst/>
            <a:gdLst/>
            <a:ahLst/>
            <a:cxnLst/>
            <a:rect r="r" b="b" t="t" l="l"/>
            <a:pathLst>
              <a:path h="10287000" w="6934140">
                <a:moveTo>
                  <a:pt x="0" y="0"/>
                </a:moveTo>
                <a:lnTo>
                  <a:pt x="6934140" y="0"/>
                </a:lnTo>
                <a:lnTo>
                  <a:pt x="6934140" y="10287000"/>
                </a:lnTo>
                <a:lnTo>
                  <a:pt x="0" y="10287000"/>
                </a:lnTo>
                <a:lnTo>
                  <a:pt x="0" y="0"/>
                </a:lnTo>
                <a:close/>
              </a:path>
            </a:pathLst>
          </a:custGeom>
          <a:blipFill>
            <a:blip r:embed="rId2"/>
            <a:stretch>
              <a:fillRect l="-61264" t="0" r="-61264" b="0"/>
            </a:stretch>
          </a:blipFill>
        </p:spPr>
      </p:sp>
      <p:sp>
        <p:nvSpPr>
          <p:cNvPr name="Freeform 3" id="3"/>
          <p:cNvSpPr/>
          <p:nvPr/>
        </p:nvSpPr>
        <p:spPr>
          <a:xfrm flipH="false" flipV="false" rot="0">
            <a:off x="1028700" y="6852844"/>
            <a:ext cx="2336602" cy="2406613"/>
          </a:xfrm>
          <a:custGeom>
            <a:avLst/>
            <a:gdLst/>
            <a:ahLst/>
            <a:cxnLst/>
            <a:rect r="r" b="b" t="t" l="l"/>
            <a:pathLst>
              <a:path h="2406613" w="2336602">
                <a:moveTo>
                  <a:pt x="0" y="0"/>
                </a:moveTo>
                <a:lnTo>
                  <a:pt x="2336602" y="0"/>
                </a:lnTo>
                <a:lnTo>
                  <a:pt x="2336602" y="2406613"/>
                </a:lnTo>
                <a:lnTo>
                  <a:pt x="0" y="240661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4" id="4"/>
          <p:cNvGrpSpPr/>
          <p:nvPr/>
        </p:nvGrpSpPr>
        <p:grpSpPr>
          <a:xfrm rot="0">
            <a:off x="1028700" y="1028700"/>
            <a:ext cx="9490796" cy="1770004"/>
            <a:chOff x="0" y="0"/>
            <a:chExt cx="12654395" cy="2360005"/>
          </a:xfrm>
        </p:grpSpPr>
        <p:sp>
          <p:nvSpPr>
            <p:cNvPr name="TextBox 5" id="5"/>
            <p:cNvSpPr txBox="true"/>
            <p:nvPr/>
          </p:nvSpPr>
          <p:spPr>
            <a:xfrm rot="0">
              <a:off x="0" y="834390"/>
              <a:ext cx="12654395" cy="1525615"/>
            </a:xfrm>
            <a:prstGeom prst="rect">
              <a:avLst/>
            </a:prstGeom>
          </p:spPr>
          <p:txBody>
            <a:bodyPr anchor="t" rtlCol="false" tIns="0" lIns="0" bIns="0" rIns="0">
              <a:spAutoFit/>
            </a:bodyPr>
            <a:lstStyle/>
            <a:p>
              <a:pPr algn="r">
                <a:lnSpc>
                  <a:spcPts val="9645"/>
                </a:lnSpc>
              </a:pPr>
              <a:r>
                <a:rPr lang="en-US" sz="6889">
                  <a:solidFill>
                    <a:srgbClr val="34495E"/>
                  </a:solidFill>
                  <a:latin typeface="Intro Rust"/>
                  <a:ea typeface="Intro Rust"/>
                  <a:cs typeface="Intro Rust"/>
                  <a:sym typeface="Intro Rust"/>
                </a:rPr>
                <a:t>de flask</a:t>
              </a:r>
            </a:p>
          </p:txBody>
        </p:sp>
        <p:sp>
          <p:nvSpPr>
            <p:cNvPr name="TextBox 6" id="6"/>
            <p:cNvSpPr txBox="true"/>
            <p:nvPr/>
          </p:nvSpPr>
          <p:spPr>
            <a:xfrm rot="0">
              <a:off x="0" y="-190500"/>
              <a:ext cx="12654395" cy="1158240"/>
            </a:xfrm>
            <a:prstGeom prst="rect">
              <a:avLst/>
            </a:prstGeom>
          </p:spPr>
          <p:txBody>
            <a:bodyPr anchor="t" rtlCol="false" tIns="0" lIns="0" bIns="0" rIns="0">
              <a:spAutoFit/>
            </a:bodyPr>
            <a:lstStyle/>
            <a:p>
              <a:pPr algn="r" marL="0" indent="0" lvl="0">
                <a:lnSpc>
                  <a:spcPts val="6719"/>
                </a:lnSpc>
                <a:spcBef>
                  <a:spcPct val="0"/>
                </a:spcBef>
              </a:pPr>
              <a:r>
                <a:rPr lang="en-US" sz="4800">
                  <a:solidFill>
                    <a:srgbClr val="5A99D1"/>
                  </a:solidFill>
                  <a:latin typeface="Mero Thai"/>
                  <a:ea typeface="Mero Thai"/>
                  <a:cs typeface="Mero Thai"/>
                  <a:sym typeface="Mero Thai"/>
                </a:rPr>
                <a:t>Como iniciar una aplicación </a:t>
              </a:r>
            </a:p>
          </p:txBody>
        </p:sp>
      </p:grpSp>
      <p:sp>
        <p:nvSpPr>
          <p:cNvPr name="TextBox 7" id="7"/>
          <p:cNvSpPr txBox="true"/>
          <p:nvPr/>
        </p:nvSpPr>
        <p:spPr>
          <a:xfrm rot="0">
            <a:off x="4129978" y="3972816"/>
            <a:ext cx="6389518" cy="5286641"/>
          </a:xfrm>
          <a:prstGeom prst="rect">
            <a:avLst/>
          </a:prstGeom>
        </p:spPr>
        <p:txBody>
          <a:bodyPr anchor="t" rtlCol="false" tIns="0" lIns="0" bIns="0" rIns="0">
            <a:spAutoFit/>
          </a:bodyPr>
          <a:lstStyle/>
          <a:p>
            <a:pPr algn="ctr" marL="0" indent="0" lvl="0">
              <a:lnSpc>
                <a:spcPts val="4185"/>
              </a:lnSpc>
              <a:spcBef>
                <a:spcPct val="0"/>
              </a:spcBef>
            </a:pPr>
            <a:r>
              <a:rPr lang="en-US" sz="2989">
                <a:solidFill>
                  <a:srgbClr val="34495E"/>
                </a:solidFill>
                <a:latin typeface="Mero Thai"/>
                <a:ea typeface="Mero Thai"/>
                <a:cs typeface="Mero Thai"/>
                <a:sym typeface="Mero Thai"/>
              </a:rPr>
              <a:t>Pa</a:t>
            </a:r>
            <a:r>
              <a:rPr lang="en-US" sz="2989" strike="noStrike" u="none">
                <a:solidFill>
                  <a:srgbClr val="34495E"/>
                </a:solidFill>
                <a:latin typeface="Mero Thai"/>
                <a:ea typeface="Mero Thai"/>
                <a:cs typeface="Mero Thai"/>
                <a:sym typeface="Mero Thai"/>
              </a:rPr>
              <a:t>ra iniciar una aplicación de Flask, instala la librería con pip install flask, crea un archivo Python (ej. app.py) con una instancia de la clase Flask, define una ruta (@app.route('/')) y ejecuta el servidor de desarrollo usando flask run o python app.py en tu terminal, accediendo a http://127.0.0.1:5000.</a:t>
            </a:r>
          </a:p>
        </p:txBody>
      </p:sp>
      <p:sp>
        <p:nvSpPr>
          <p:cNvPr name="Freeform 8" id="8"/>
          <p:cNvSpPr/>
          <p:nvPr/>
        </p:nvSpPr>
        <p:spPr>
          <a:xfrm flipH="false" flipV="false" rot="0">
            <a:off x="955176" y="2736887"/>
            <a:ext cx="2336602" cy="2406613"/>
          </a:xfrm>
          <a:custGeom>
            <a:avLst/>
            <a:gdLst/>
            <a:ahLst/>
            <a:cxnLst/>
            <a:rect r="r" b="b" t="t" l="l"/>
            <a:pathLst>
              <a:path h="2406613" w="2336602">
                <a:moveTo>
                  <a:pt x="0" y="0"/>
                </a:moveTo>
                <a:lnTo>
                  <a:pt x="2336602" y="0"/>
                </a:lnTo>
                <a:lnTo>
                  <a:pt x="2336602" y="2406613"/>
                </a:lnTo>
                <a:lnTo>
                  <a:pt x="0" y="24066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1EFFA"/>
        </a:solidFill>
      </p:bgPr>
    </p:bg>
    <p:spTree>
      <p:nvGrpSpPr>
        <p:cNvPr id="1" name=""/>
        <p:cNvGrpSpPr/>
        <p:nvPr/>
      </p:nvGrpSpPr>
      <p:grpSpPr>
        <a:xfrm>
          <a:off x="0" y="0"/>
          <a:ext cx="0" cy="0"/>
          <a:chOff x="0" y="0"/>
          <a:chExt cx="0" cy="0"/>
        </a:xfrm>
      </p:grpSpPr>
      <p:sp>
        <p:nvSpPr>
          <p:cNvPr name="Freeform 2" id="2"/>
          <p:cNvSpPr/>
          <p:nvPr/>
        </p:nvSpPr>
        <p:spPr>
          <a:xfrm flipH="false" flipV="false" rot="0">
            <a:off x="12025853" y="4871720"/>
            <a:ext cx="5233447" cy="4386580"/>
          </a:xfrm>
          <a:custGeom>
            <a:avLst/>
            <a:gdLst/>
            <a:ahLst/>
            <a:cxnLst/>
            <a:rect r="r" b="b" t="t" l="l"/>
            <a:pathLst>
              <a:path h="4386580" w="5233447">
                <a:moveTo>
                  <a:pt x="0" y="0"/>
                </a:moveTo>
                <a:lnTo>
                  <a:pt x="5233447" y="0"/>
                </a:lnTo>
                <a:lnTo>
                  <a:pt x="5233447" y="4386580"/>
                </a:lnTo>
                <a:lnTo>
                  <a:pt x="0" y="43865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028700" y="1027841"/>
            <a:ext cx="2002153" cy="2591021"/>
          </a:xfrm>
          <a:custGeom>
            <a:avLst/>
            <a:gdLst/>
            <a:ahLst/>
            <a:cxnLst/>
            <a:rect r="r" b="b" t="t" l="l"/>
            <a:pathLst>
              <a:path h="2591021" w="2002153">
                <a:moveTo>
                  <a:pt x="0" y="0"/>
                </a:moveTo>
                <a:lnTo>
                  <a:pt x="2002153" y="0"/>
                </a:lnTo>
                <a:lnTo>
                  <a:pt x="2002153" y="2591021"/>
                </a:lnTo>
                <a:lnTo>
                  <a:pt x="0" y="25910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grpSp>
        <p:nvGrpSpPr>
          <p:cNvPr name="Group 4" id="4"/>
          <p:cNvGrpSpPr/>
          <p:nvPr/>
        </p:nvGrpSpPr>
        <p:grpSpPr>
          <a:xfrm rot="0">
            <a:off x="3913809" y="1027841"/>
            <a:ext cx="13345491" cy="2196852"/>
            <a:chOff x="0" y="0"/>
            <a:chExt cx="17793988" cy="2929136"/>
          </a:xfrm>
        </p:grpSpPr>
        <p:sp>
          <p:nvSpPr>
            <p:cNvPr name="TextBox 5" id="5"/>
            <p:cNvSpPr txBox="true"/>
            <p:nvPr/>
          </p:nvSpPr>
          <p:spPr>
            <a:xfrm rot="0">
              <a:off x="0" y="-133350"/>
              <a:ext cx="17793988" cy="1525615"/>
            </a:xfrm>
            <a:prstGeom prst="rect">
              <a:avLst/>
            </a:prstGeom>
          </p:spPr>
          <p:txBody>
            <a:bodyPr anchor="t" rtlCol="false" tIns="0" lIns="0" bIns="0" rIns="0">
              <a:spAutoFit/>
            </a:bodyPr>
            <a:lstStyle/>
            <a:p>
              <a:pPr algn="l">
                <a:lnSpc>
                  <a:spcPts val="9645"/>
                </a:lnSpc>
              </a:pPr>
              <a:r>
                <a:rPr lang="en-US" sz="6889">
                  <a:solidFill>
                    <a:srgbClr val="34495E"/>
                  </a:solidFill>
                  <a:latin typeface="Intro Rust"/>
                  <a:ea typeface="Intro Rust"/>
                  <a:cs typeface="Intro Rust"/>
                  <a:sym typeface="Intro Rust"/>
                </a:rPr>
                <a:t>¿Que es request?</a:t>
              </a:r>
            </a:p>
          </p:txBody>
        </p:sp>
        <p:sp>
          <p:nvSpPr>
            <p:cNvPr name="TextBox 6" id="6"/>
            <p:cNvSpPr txBox="true"/>
            <p:nvPr/>
          </p:nvSpPr>
          <p:spPr>
            <a:xfrm rot="0">
              <a:off x="0" y="1356324"/>
              <a:ext cx="17793988" cy="1572812"/>
            </a:xfrm>
            <a:prstGeom prst="rect">
              <a:avLst/>
            </a:prstGeom>
          </p:spPr>
          <p:txBody>
            <a:bodyPr anchor="t" rtlCol="false" tIns="0" lIns="0" bIns="0" rIns="0">
              <a:spAutoFit/>
            </a:bodyPr>
            <a:lstStyle/>
            <a:p>
              <a:pPr algn="l">
                <a:lnSpc>
                  <a:spcPts val="9007"/>
                </a:lnSpc>
              </a:pPr>
              <a:r>
                <a:rPr lang="en-US" sz="6433">
                  <a:solidFill>
                    <a:srgbClr val="5A99D1"/>
                  </a:solidFill>
                  <a:latin typeface="Mero Thai"/>
                  <a:ea typeface="Mero Thai"/>
                  <a:cs typeface="Mero Thai"/>
                  <a:sym typeface="Mero Thai"/>
                </a:rPr>
                <a:t>-REQUEST-</a:t>
              </a:r>
            </a:p>
          </p:txBody>
        </p:sp>
      </p:grpSp>
      <p:grpSp>
        <p:nvGrpSpPr>
          <p:cNvPr name="Group 7" id="7"/>
          <p:cNvGrpSpPr/>
          <p:nvPr/>
        </p:nvGrpSpPr>
        <p:grpSpPr>
          <a:xfrm rot="0">
            <a:off x="1028700" y="4935774"/>
            <a:ext cx="5010325" cy="3446226"/>
            <a:chOff x="0" y="0"/>
            <a:chExt cx="6680433" cy="4594968"/>
          </a:xfrm>
        </p:grpSpPr>
        <p:sp>
          <p:nvSpPr>
            <p:cNvPr name="TextBox 8" id="8"/>
            <p:cNvSpPr txBox="true"/>
            <p:nvPr/>
          </p:nvSpPr>
          <p:spPr>
            <a:xfrm rot="0">
              <a:off x="0" y="1079184"/>
              <a:ext cx="6680433" cy="3515784"/>
            </a:xfrm>
            <a:prstGeom prst="rect">
              <a:avLst/>
            </a:prstGeom>
          </p:spPr>
          <p:txBody>
            <a:bodyPr anchor="t" rtlCol="false" tIns="0" lIns="0" bIns="0" rIns="0">
              <a:spAutoFit/>
            </a:bodyPr>
            <a:lstStyle/>
            <a:p>
              <a:pPr algn="l">
                <a:lnSpc>
                  <a:spcPts val="3499"/>
                </a:lnSpc>
              </a:pPr>
              <a:r>
                <a:rPr lang="en-US" sz="2499">
                  <a:solidFill>
                    <a:srgbClr val="34495E"/>
                  </a:solidFill>
                  <a:latin typeface="Mero Thai"/>
                  <a:ea typeface="Mero Thai"/>
                  <a:cs typeface="Mero Thai"/>
                  <a:sym typeface="Mero Thai"/>
                </a:rPr>
                <a:t>En el contexto tecnológico, un request es una petición HTTP enviada por un cliente (navegador o app) a un servidor para solicitar datos o realizar una acción. </a:t>
              </a:r>
            </a:p>
          </p:txBody>
        </p:sp>
        <p:sp>
          <p:nvSpPr>
            <p:cNvPr name="TextBox 9" id="9"/>
            <p:cNvSpPr txBox="true"/>
            <p:nvPr/>
          </p:nvSpPr>
          <p:spPr>
            <a:xfrm rot="0">
              <a:off x="0" y="-142875"/>
              <a:ext cx="6680433" cy="871854"/>
            </a:xfrm>
            <a:prstGeom prst="rect">
              <a:avLst/>
            </a:prstGeom>
          </p:spPr>
          <p:txBody>
            <a:bodyPr anchor="t" rtlCol="false" tIns="0" lIns="0" bIns="0" rIns="0">
              <a:spAutoFit/>
            </a:bodyPr>
            <a:lstStyle/>
            <a:p>
              <a:pPr algn="l">
                <a:lnSpc>
                  <a:spcPts val="5040"/>
                </a:lnSpc>
              </a:pPr>
              <a:r>
                <a:rPr lang="en-US" sz="3600">
                  <a:solidFill>
                    <a:srgbClr val="5A99D1"/>
                  </a:solidFill>
                  <a:latin typeface="Mero Thai"/>
                  <a:ea typeface="Mero Thai"/>
                  <a:cs typeface="Mero Thai"/>
                  <a:sym typeface="Mero Thai"/>
                </a:rPr>
                <a:t>QUE ES:</a:t>
              </a:r>
            </a:p>
          </p:txBody>
        </p:sp>
      </p:grpSp>
      <p:grpSp>
        <p:nvGrpSpPr>
          <p:cNvPr name="Group 10" id="10"/>
          <p:cNvGrpSpPr/>
          <p:nvPr/>
        </p:nvGrpSpPr>
        <p:grpSpPr>
          <a:xfrm rot="0">
            <a:off x="6638838" y="4935774"/>
            <a:ext cx="5010325" cy="3446226"/>
            <a:chOff x="0" y="0"/>
            <a:chExt cx="6680433" cy="4594968"/>
          </a:xfrm>
        </p:grpSpPr>
        <p:sp>
          <p:nvSpPr>
            <p:cNvPr name="TextBox 11" id="11"/>
            <p:cNvSpPr txBox="true"/>
            <p:nvPr/>
          </p:nvSpPr>
          <p:spPr>
            <a:xfrm rot="0">
              <a:off x="0" y="1079184"/>
              <a:ext cx="6680433" cy="3515784"/>
            </a:xfrm>
            <a:prstGeom prst="rect">
              <a:avLst/>
            </a:prstGeom>
          </p:spPr>
          <p:txBody>
            <a:bodyPr anchor="t" rtlCol="false" tIns="0" lIns="0" bIns="0" rIns="0">
              <a:spAutoFit/>
            </a:bodyPr>
            <a:lstStyle/>
            <a:p>
              <a:pPr algn="l">
                <a:lnSpc>
                  <a:spcPts val="3499"/>
                </a:lnSpc>
              </a:pPr>
              <a:r>
                <a:rPr lang="en-US" sz="2499">
                  <a:solidFill>
                    <a:srgbClr val="34495E"/>
                  </a:solidFill>
                  <a:latin typeface="Mero Thai"/>
                  <a:ea typeface="Mero Thai"/>
                  <a:cs typeface="Mero Thai"/>
                  <a:sym typeface="Mero Thai"/>
                </a:rPr>
                <a:t> (Programación/APIs): Es el mensaje estructurado que el navegador (cliente) envía al servidor para consultar, enviar datos o recibir contenido.</a:t>
              </a:r>
            </a:p>
            <a:p>
              <a:pPr algn="l">
                <a:lnSpc>
                  <a:spcPts val="3499"/>
                </a:lnSpc>
              </a:pPr>
            </a:p>
          </p:txBody>
        </p:sp>
        <p:sp>
          <p:nvSpPr>
            <p:cNvPr name="TextBox 12" id="12"/>
            <p:cNvSpPr txBox="true"/>
            <p:nvPr/>
          </p:nvSpPr>
          <p:spPr>
            <a:xfrm rot="0">
              <a:off x="0" y="-142875"/>
              <a:ext cx="6680433" cy="871854"/>
            </a:xfrm>
            <a:prstGeom prst="rect">
              <a:avLst/>
            </a:prstGeom>
          </p:spPr>
          <p:txBody>
            <a:bodyPr anchor="t" rtlCol="false" tIns="0" lIns="0" bIns="0" rIns="0">
              <a:spAutoFit/>
            </a:bodyPr>
            <a:lstStyle/>
            <a:p>
              <a:pPr algn="l">
                <a:lnSpc>
                  <a:spcPts val="5040"/>
                </a:lnSpc>
              </a:pPr>
              <a:r>
                <a:rPr lang="en-US" sz="3600">
                  <a:solidFill>
                    <a:srgbClr val="5A99D1"/>
                  </a:solidFill>
                  <a:latin typeface="Mero Thai"/>
                  <a:ea typeface="Mero Thai"/>
                  <a:cs typeface="Mero Thai"/>
                  <a:sym typeface="Mero Thai"/>
                </a:rPr>
                <a:t>USO TÉCNICO</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50338" y="463393"/>
            <a:ext cx="9587324" cy="1943073"/>
            <a:chOff x="0" y="0"/>
            <a:chExt cx="12783098" cy="2590764"/>
          </a:xfrm>
        </p:grpSpPr>
        <p:sp>
          <p:nvSpPr>
            <p:cNvPr name="TextBox 3" id="3"/>
            <p:cNvSpPr txBox="true"/>
            <p:nvPr/>
          </p:nvSpPr>
          <p:spPr>
            <a:xfrm rot="0">
              <a:off x="0" y="-133350"/>
              <a:ext cx="12783098" cy="1525615"/>
            </a:xfrm>
            <a:prstGeom prst="rect">
              <a:avLst/>
            </a:prstGeom>
          </p:spPr>
          <p:txBody>
            <a:bodyPr anchor="t" rtlCol="false" tIns="0" lIns="0" bIns="0" rIns="0">
              <a:spAutoFit/>
            </a:bodyPr>
            <a:lstStyle/>
            <a:p>
              <a:pPr algn="ctr">
                <a:lnSpc>
                  <a:spcPts val="9645"/>
                </a:lnSpc>
              </a:pPr>
              <a:r>
                <a:rPr lang="en-US" sz="6889">
                  <a:solidFill>
                    <a:srgbClr val="34495E"/>
                  </a:solidFill>
                  <a:latin typeface="Intro Rust"/>
                  <a:ea typeface="Intro Rust"/>
                  <a:cs typeface="Intro Rust"/>
                  <a:sym typeface="Intro Rust"/>
                </a:rPr>
                <a:t>tipos de request</a:t>
              </a:r>
            </a:p>
          </p:txBody>
        </p:sp>
        <p:sp>
          <p:nvSpPr>
            <p:cNvPr name="TextBox 4" id="4"/>
            <p:cNvSpPr txBox="true"/>
            <p:nvPr/>
          </p:nvSpPr>
          <p:spPr>
            <a:xfrm rot="0">
              <a:off x="0" y="1432524"/>
              <a:ext cx="12783098" cy="1158240"/>
            </a:xfrm>
            <a:prstGeom prst="rect">
              <a:avLst/>
            </a:prstGeom>
          </p:spPr>
          <p:txBody>
            <a:bodyPr anchor="t" rtlCol="false" tIns="0" lIns="0" bIns="0" rIns="0">
              <a:spAutoFit/>
            </a:bodyPr>
            <a:lstStyle/>
            <a:p>
              <a:pPr algn="ctr" marL="0" indent="0" lvl="0">
                <a:lnSpc>
                  <a:spcPts val="6719"/>
                </a:lnSpc>
                <a:spcBef>
                  <a:spcPct val="0"/>
                </a:spcBef>
              </a:pPr>
              <a:r>
                <a:rPr lang="en-US" sz="4800">
                  <a:solidFill>
                    <a:srgbClr val="5A99D1"/>
                  </a:solidFill>
                  <a:latin typeface="Mero Thai"/>
                  <a:ea typeface="Mero Thai"/>
                  <a:cs typeface="Mero Thai"/>
                  <a:sym typeface="Mero Thai"/>
                </a:rPr>
                <a:t>Y usos</a:t>
              </a:r>
            </a:p>
          </p:txBody>
        </p:sp>
      </p:grpSp>
      <p:grpSp>
        <p:nvGrpSpPr>
          <p:cNvPr name="Group 5" id="5"/>
          <p:cNvGrpSpPr/>
          <p:nvPr/>
        </p:nvGrpSpPr>
        <p:grpSpPr>
          <a:xfrm rot="0">
            <a:off x="13514631" y="3468356"/>
            <a:ext cx="3744669" cy="5212946"/>
            <a:chOff x="0" y="0"/>
            <a:chExt cx="1224322" cy="1704376"/>
          </a:xfrm>
        </p:grpSpPr>
        <p:sp>
          <p:nvSpPr>
            <p:cNvPr name="Freeform 6" id="6"/>
            <p:cNvSpPr/>
            <p:nvPr/>
          </p:nvSpPr>
          <p:spPr>
            <a:xfrm flipH="false" flipV="false" rot="0">
              <a:off x="0" y="0"/>
              <a:ext cx="1224322" cy="1704376"/>
            </a:xfrm>
            <a:custGeom>
              <a:avLst/>
              <a:gdLst/>
              <a:ahLst/>
              <a:cxnLst/>
              <a:rect r="r" b="b" t="t" l="l"/>
              <a:pathLst>
                <a:path h="1704376" w="1224322">
                  <a:moveTo>
                    <a:pt x="105440" y="0"/>
                  </a:moveTo>
                  <a:lnTo>
                    <a:pt x="1118882" y="0"/>
                  </a:lnTo>
                  <a:cubicBezTo>
                    <a:pt x="1177115" y="0"/>
                    <a:pt x="1224322" y="47207"/>
                    <a:pt x="1224322" y="105440"/>
                  </a:cubicBezTo>
                  <a:lnTo>
                    <a:pt x="1224322" y="1598936"/>
                  </a:lnTo>
                  <a:cubicBezTo>
                    <a:pt x="1224322" y="1657169"/>
                    <a:pt x="1177115" y="1704376"/>
                    <a:pt x="1118882" y="1704376"/>
                  </a:cubicBezTo>
                  <a:lnTo>
                    <a:pt x="105440" y="1704376"/>
                  </a:lnTo>
                  <a:cubicBezTo>
                    <a:pt x="47207" y="1704376"/>
                    <a:pt x="0" y="1657169"/>
                    <a:pt x="0" y="1598936"/>
                  </a:cubicBezTo>
                  <a:lnTo>
                    <a:pt x="0" y="105440"/>
                  </a:lnTo>
                  <a:cubicBezTo>
                    <a:pt x="0" y="47207"/>
                    <a:pt x="47207" y="0"/>
                    <a:pt x="105440" y="0"/>
                  </a:cubicBezTo>
                  <a:close/>
                </a:path>
              </a:pathLst>
            </a:custGeom>
            <a:solidFill>
              <a:srgbClr val="E1EFFA"/>
            </a:solidFill>
          </p:spPr>
        </p:sp>
        <p:sp>
          <p:nvSpPr>
            <p:cNvPr name="TextBox 7" id="7"/>
            <p:cNvSpPr txBox="true"/>
            <p:nvPr/>
          </p:nvSpPr>
          <p:spPr>
            <a:xfrm>
              <a:off x="0" y="-142875"/>
              <a:ext cx="1224322" cy="1847251"/>
            </a:xfrm>
            <a:prstGeom prst="rect">
              <a:avLst/>
            </a:prstGeom>
          </p:spPr>
          <p:txBody>
            <a:bodyPr anchor="ctr" rtlCol="false" tIns="50800" lIns="50800" bIns="50800" rIns="50800"/>
            <a:lstStyle/>
            <a:p>
              <a:pPr algn="ctr">
                <a:lnSpc>
                  <a:spcPts val="4759"/>
                </a:lnSpc>
              </a:pPr>
            </a:p>
          </p:txBody>
        </p:sp>
      </p:grpSp>
      <p:sp>
        <p:nvSpPr>
          <p:cNvPr name="TextBox 8" id="8"/>
          <p:cNvSpPr txBox="true"/>
          <p:nvPr/>
        </p:nvSpPr>
        <p:spPr>
          <a:xfrm rot="0">
            <a:off x="13745726" y="6322724"/>
            <a:ext cx="3282537" cy="880834"/>
          </a:xfrm>
          <a:prstGeom prst="rect">
            <a:avLst/>
          </a:prstGeom>
        </p:spPr>
        <p:txBody>
          <a:bodyPr anchor="t" rtlCol="false" tIns="0" lIns="0" bIns="0" rIns="0">
            <a:spAutoFit/>
          </a:bodyPr>
          <a:lstStyle/>
          <a:p>
            <a:pPr algn="ctr">
              <a:lnSpc>
                <a:spcPts val="2273"/>
              </a:lnSpc>
            </a:pPr>
            <a:r>
              <a:rPr lang="en-US" sz="1624">
                <a:solidFill>
                  <a:srgbClr val="34495E"/>
                </a:solidFill>
                <a:latin typeface="Mero Thai"/>
                <a:ea typeface="Mero Thai"/>
                <a:cs typeface="Mero Thai"/>
                <a:sym typeface="Mero Thai"/>
              </a:rPr>
              <a:t> Elimina un recurso específico del servidor. </a:t>
            </a:r>
          </a:p>
          <a:p>
            <a:pPr algn="ctr">
              <a:lnSpc>
                <a:spcPts val="2273"/>
              </a:lnSpc>
            </a:pPr>
          </a:p>
        </p:txBody>
      </p:sp>
      <p:sp>
        <p:nvSpPr>
          <p:cNvPr name="TextBox 9" id="9"/>
          <p:cNvSpPr txBox="true"/>
          <p:nvPr/>
        </p:nvSpPr>
        <p:spPr>
          <a:xfrm rot="0">
            <a:off x="13745726" y="5676183"/>
            <a:ext cx="3282537" cy="365670"/>
          </a:xfrm>
          <a:prstGeom prst="rect">
            <a:avLst/>
          </a:prstGeom>
        </p:spPr>
        <p:txBody>
          <a:bodyPr anchor="t" rtlCol="false" tIns="0" lIns="0" bIns="0" rIns="0">
            <a:spAutoFit/>
          </a:bodyPr>
          <a:lstStyle/>
          <a:p>
            <a:pPr algn="ctr" marL="0" indent="0" lvl="0">
              <a:lnSpc>
                <a:spcPts val="2932"/>
              </a:lnSpc>
              <a:spcBef>
                <a:spcPct val="0"/>
              </a:spcBef>
            </a:pPr>
            <a:r>
              <a:rPr lang="en-US" sz="2094" u="sng">
                <a:solidFill>
                  <a:srgbClr val="5A99D1"/>
                </a:solidFill>
                <a:latin typeface="Intro Rust"/>
                <a:ea typeface="Intro Rust"/>
                <a:cs typeface="Intro Rust"/>
                <a:sym typeface="Intro Rust"/>
                <a:hlinkClick r:id="rId2" tooltip="https://www.google.com/search?q=DELETE&amp;sca_esv=90400c0a8b8f484b&amp;biw=1280&amp;bih=889&amp;sxsrf=ANbL-n5sYaRbAtxo0Libpk5TGh6fHlKKEQ%3A1776815399517&amp;ei=Jw3oaYuiH86iqtsPmrPj2QE&amp;ved=2ahUKEwj17KXDkYCUAxVCnGoFHSuFIFEQgK4QegQIBBAJ&amp;uact=5&amp;oq=tipos+de+request+y+uso&amp;gs_lp=Egxnd3Mtd2l6LXNlcnAiFnRpcG9zIGRlIHJlcXVlc3QgeSB1c28yBRAhGKABSOonUMAEWL8kcAF4AZABAJgBc6AB3A2qAQQyMS4xuAEDyAEA-AEBmAIXoAKYD6gCCsICFhAAGIAEGIoFGEMY5wYY6gIYtALYAQHCAhAQABgDGI8BGOoCGLQC2AEBwgIQEAAYgAQYigUYQxixAxiDAcICBRAAGIAEwgIOEAAYgAQYigUYsQMYgwHCAgsQABiABBixAxiDAcICDhAuGIAEGLEDGMcBGNEDwgIOEC4YgAQYigUYsQMYgwHCAggQABiABBixA8ICChAAGIAEGIoFGEPCAhMQLhiABBiKBRhDGLEDGMcBGNEDwgIKEC4YgAQYigUYQ8ICBBAAGAPCAggQLhiABBixA8ICDRAAGIAEGIoFGEMYsQPCAgYQABgWGB7CAggQABiABBiiBMICBRAAGO8FwgIFECEYnwWYAwXiAwUSATEgQPEFASVXJnH1HLe6BgQIARgHkgcEMjEuMqAHmnKyBwQyMC4yuAeSD8IHCDAuNS4xMC44yAeIAYAIAQ&amp;sclient=gws-wiz-serp&amp;mstk=AUtExfCzluLpHMWOWbXUBJaqapoyO-WKlNwB55T99-ASVkhSGDENyU5aCk717qHiWk4UTe9bBm_-o0VrUifZdG0v0qJq_jJIYo31aj6UXFaRa-NhnHRkCorkOk5dXM-tO_vjvGLNfuvJEUc_EJ8mlsAc93E7rsmqmSHg4-mnNHKGHRTA3Fvudy4pqFpqH1Uz5C4sLo07&amp;csui=3"/>
              </a:rPr>
              <a:t>D</a:t>
            </a:r>
            <a:r>
              <a:rPr lang="en-US" sz="2094" strike="noStrike" u="sng">
                <a:solidFill>
                  <a:srgbClr val="5A99D1"/>
                </a:solidFill>
                <a:latin typeface="Intro Rust"/>
                <a:ea typeface="Intro Rust"/>
                <a:cs typeface="Intro Rust"/>
                <a:sym typeface="Intro Rust"/>
                <a:hlinkClick r:id="rId3" tooltip="https://www.google.com/search?q=DELETE&amp;sca_esv=90400c0a8b8f484b&amp;biw=1280&amp;bih=889&amp;sxsrf=ANbL-n5sYaRbAtxo0Libpk5TGh6fHlKKEQ%3A1776815399517&amp;ei=Jw3oaYuiH86iqtsPmrPj2QE&amp;ved=2ahUKEwj17KXDkYCUAxVCnGoFHSuFIFEQgK4QegQIBBAJ&amp;uact=5&amp;oq=tipos+de+request+y+uso&amp;gs_lp=Egxnd3Mtd2l6LXNlcnAiFnRpcG9zIGRlIHJlcXVlc3QgeSB1c28yBRAhGKABSOonUMAEWL8kcAF4AZABAJgBc6AB3A2qAQQyMS4xuAEDyAEA-AEBmAIXoAKYD6gCCsICFhAAGIAEGIoFGEMY5wYY6gIYtALYAQHCAhAQABgDGI8BGOoCGLQC2AEBwgIQEAAYgAQYigUYQxixAxiDAcICBRAAGIAEwgIOEAAYgAQYigUYsQMYgwHCAgsQABiABBixAxiDAcICDhAuGIAEGLEDGMcBGNEDwgIOEC4YgAQYigUYsQMYgwHCAggQABiABBixA8ICChAAGIAEGIoFGEPCAhMQLhiABBiKBRhDGLEDGMcBGNEDwgIKEC4YgAQYigUYQ8ICBBAAGAPCAggQLhiABBixA8ICDRAAGIAEGIoFGEMYsQPCAgYQABgWGB7CAggQABiABBiiBMICBRAAGO8FwgIFECEYnwWYAwXiAwUSATEgQPEFASVXJnH1HLe6BgQIARgHkgcEMjEuMqAHmnKyBwQyMC4yuAeSD8IHCDAuNS4xMC44yAeIAYAIAQ&amp;sclient=gws-wiz-serp&amp;mstk=AUtExfCzluLpHMWOWbXUBJaqapoyO-WKlNwB55T99-ASVkhSGDENyU5aCk717qHiWk4UTe9bBm_-o0VrUifZdG0v0qJq_jJIYo31aj6UXFaRa-NhnHRkCorkOk5dXM-tO_vjvGLNfuvJEUc_EJ8mlsAc93E7rsmqmSHg4-mnNHKGHRTA3Fvudy4pqFpqH1Uz5C4sLo07&amp;csui=3"/>
              </a:rPr>
              <a:t>ELETE</a:t>
            </a:r>
            <a:r>
              <a:rPr lang="en-US" sz="2094" strike="noStrike" u="none">
                <a:solidFill>
                  <a:srgbClr val="5A99D1"/>
                </a:solidFill>
                <a:latin typeface="Intro Rust"/>
                <a:ea typeface="Intro Rust"/>
                <a:cs typeface="Intro Rust"/>
                <a:sym typeface="Intro Rust"/>
              </a:rPr>
              <a:t> (Borrar):</a:t>
            </a:r>
          </a:p>
        </p:txBody>
      </p:sp>
      <p:grpSp>
        <p:nvGrpSpPr>
          <p:cNvPr name="Group 10" id="10"/>
          <p:cNvGrpSpPr/>
          <p:nvPr/>
        </p:nvGrpSpPr>
        <p:grpSpPr>
          <a:xfrm rot="0">
            <a:off x="1028700" y="3468356"/>
            <a:ext cx="3744669" cy="5212946"/>
            <a:chOff x="0" y="0"/>
            <a:chExt cx="1224322" cy="1704376"/>
          </a:xfrm>
        </p:grpSpPr>
        <p:sp>
          <p:nvSpPr>
            <p:cNvPr name="Freeform 11" id="11"/>
            <p:cNvSpPr/>
            <p:nvPr/>
          </p:nvSpPr>
          <p:spPr>
            <a:xfrm flipH="false" flipV="false" rot="0">
              <a:off x="0" y="0"/>
              <a:ext cx="1224322" cy="1704376"/>
            </a:xfrm>
            <a:custGeom>
              <a:avLst/>
              <a:gdLst/>
              <a:ahLst/>
              <a:cxnLst/>
              <a:rect r="r" b="b" t="t" l="l"/>
              <a:pathLst>
                <a:path h="1704376" w="1224322">
                  <a:moveTo>
                    <a:pt x="105440" y="0"/>
                  </a:moveTo>
                  <a:lnTo>
                    <a:pt x="1118882" y="0"/>
                  </a:lnTo>
                  <a:cubicBezTo>
                    <a:pt x="1177115" y="0"/>
                    <a:pt x="1224322" y="47207"/>
                    <a:pt x="1224322" y="105440"/>
                  </a:cubicBezTo>
                  <a:lnTo>
                    <a:pt x="1224322" y="1598936"/>
                  </a:lnTo>
                  <a:cubicBezTo>
                    <a:pt x="1224322" y="1657169"/>
                    <a:pt x="1177115" y="1704376"/>
                    <a:pt x="1118882" y="1704376"/>
                  </a:cubicBezTo>
                  <a:lnTo>
                    <a:pt x="105440" y="1704376"/>
                  </a:lnTo>
                  <a:cubicBezTo>
                    <a:pt x="47207" y="1704376"/>
                    <a:pt x="0" y="1657169"/>
                    <a:pt x="0" y="1598936"/>
                  </a:cubicBezTo>
                  <a:lnTo>
                    <a:pt x="0" y="105440"/>
                  </a:lnTo>
                  <a:cubicBezTo>
                    <a:pt x="0" y="47207"/>
                    <a:pt x="47207" y="0"/>
                    <a:pt x="105440" y="0"/>
                  </a:cubicBezTo>
                  <a:close/>
                </a:path>
              </a:pathLst>
            </a:custGeom>
            <a:solidFill>
              <a:srgbClr val="E1EFFA"/>
            </a:solidFill>
          </p:spPr>
        </p:sp>
        <p:sp>
          <p:nvSpPr>
            <p:cNvPr name="TextBox 12" id="12"/>
            <p:cNvSpPr txBox="true"/>
            <p:nvPr/>
          </p:nvSpPr>
          <p:spPr>
            <a:xfrm>
              <a:off x="0" y="-142875"/>
              <a:ext cx="1224322" cy="1847251"/>
            </a:xfrm>
            <a:prstGeom prst="rect">
              <a:avLst/>
            </a:prstGeom>
          </p:spPr>
          <p:txBody>
            <a:bodyPr anchor="ctr" rtlCol="false" tIns="50800" lIns="50800" bIns="50800" rIns="50800"/>
            <a:lstStyle/>
            <a:p>
              <a:pPr algn="ctr">
                <a:lnSpc>
                  <a:spcPts val="4759"/>
                </a:lnSpc>
              </a:pPr>
            </a:p>
          </p:txBody>
        </p:sp>
      </p:grpSp>
      <p:sp>
        <p:nvSpPr>
          <p:cNvPr name="TextBox 13" id="13"/>
          <p:cNvSpPr txBox="true"/>
          <p:nvPr/>
        </p:nvSpPr>
        <p:spPr>
          <a:xfrm rot="0">
            <a:off x="1259795" y="6322724"/>
            <a:ext cx="3282537" cy="1169146"/>
          </a:xfrm>
          <a:prstGeom prst="rect">
            <a:avLst/>
          </a:prstGeom>
        </p:spPr>
        <p:txBody>
          <a:bodyPr anchor="t" rtlCol="false" tIns="0" lIns="0" bIns="0" rIns="0">
            <a:spAutoFit/>
          </a:bodyPr>
          <a:lstStyle/>
          <a:p>
            <a:pPr algn="ctr">
              <a:lnSpc>
                <a:spcPts val="2273"/>
              </a:lnSpc>
            </a:pPr>
            <a:r>
              <a:rPr lang="en-US" sz="1624">
                <a:solidFill>
                  <a:srgbClr val="34495E"/>
                </a:solidFill>
                <a:latin typeface="Mero Thai"/>
                <a:ea typeface="Mero Thai"/>
                <a:cs typeface="Mero Thai"/>
                <a:sym typeface="Mero Thai"/>
              </a:rPr>
              <a:t>Solicita la representación de un recurso específico. Se utiliza para consultar información sin modificar el servidor.</a:t>
            </a:r>
          </a:p>
        </p:txBody>
      </p:sp>
      <p:sp>
        <p:nvSpPr>
          <p:cNvPr name="TextBox 14" id="14"/>
          <p:cNvSpPr txBox="true"/>
          <p:nvPr/>
        </p:nvSpPr>
        <p:spPr>
          <a:xfrm rot="0">
            <a:off x="1259795" y="5676183"/>
            <a:ext cx="3282537" cy="365670"/>
          </a:xfrm>
          <a:prstGeom prst="rect">
            <a:avLst/>
          </a:prstGeom>
        </p:spPr>
        <p:txBody>
          <a:bodyPr anchor="t" rtlCol="false" tIns="0" lIns="0" bIns="0" rIns="0">
            <a:spAutoFit/>
          </a:bodyPr>
          <a:lstStyle/>
          <a:p>
            <a:pPr algn="ctr" marL="0" indent="0" lvl="0">
              <a:lnSpc>
                <a:spcPts val="2932"/>
              </a:lnSpc>
              <a:spcBef>
                <a:spcPct val="0"/>
              </a:spcBef>
            </a:pPr>
            <a:r>
              <a:rPr lang="en-US" sz="2094" u="sng">
                <a:solidFill>
                  <a:srgbClr val="5A99D1"/>
                </a:solidFill>
                <a:latin typeface="Intro Rust"/>
                <a:ea typeface="Intro Rust"/>
                <a:cs typeface="Intro Rust"/>
                <a:sym typeface="Intro Rust"/>
                <a:hlinkClick r:id="rId4" tooltip="https://www.google.com/search?q=GET&amp;sca_esv=90400c0a8b8f484b&amp;biw=1280&amp;bih=889&amp;sxsrf=ANbL-n5sYaRbAtxo0Libpk5TGh6fHlKKEQ%3A1776815399517&amp;ei=Jw3oaYuiH86iqtsPmrPj2QE&amp;ved=2ahUKEwj17KXDkYCUAxVCnGoFHSuFIFEQgK4QegQIBBAB&amp;uact=5&amp;oq=tipos+de+request+y+uso&amp;gs_lp=Egxnd3Mtd2l6LXNlcnAiFnRpcG9zIGRlIHJlcXVlc3QgeSB1c28yBRAhGKABSOonUMAEWL8kcAF4AZABAJgBc6AB3A2qAQQyMS4xuAEDyAEA-AEBmAIXoAKYD6gCCsICFhAAGIAEGIoFGEMY5wYY6gIYtALYAQHCAhAQABgDGI8BGOoCGLQC2AEBwgIQEAAYgAQYigUYQxixAxiDAcICBRAAGIAEwgIOEAAYgAQYigUYsQMYgwHCAgsQABiABBixAxiDAcICDhAuGIAEGLEDGMcBGNEDwgIOEC4YgAQYigUYsQMYgwHCAggQABiABBixA8ICChAAGIAEGIoFGEPCAhMQLhiABBiKBRhDGLEDGMcBGNEDwgIKEC4YgAQYigUYQ8ICBBAAGAPCAggQLhiABBixA8ICDRAAGIAEGIoFGEMYsQPCAgYQABgWGB7CAggQABiABBiiBMICBRAAGO8FwgIFECEYnwWYAwXiAwUSATEgQPEFASVXJnH1HLe6BgQIARgHkgcEMjEuMqAHmnKyBwQyMC4yuAeSD8IHCDAuNS4xMC44yAeIAYAIAQ&amp;sclient=gws-wiz-serp&amp;mstk=AUtExfCzluLpHMWOWbXUBJaqapoyO-WKlNwB55T99-ASVkhSGDENyU5aCk717qHiWk4UTe9bBm_-o0VrUifZdG0v0qJq_jJIYo31aj6UXFaRa-NhnHRkCorkOk5dXM-tO_vjvGLNfuvJEUc_EJ8mlsAc93E7rsmqmSHg4-mnNHKGHRTA3Fvudy4pqFpqH1Uz5C4sLo07&amp;csui=3"/>
              </a:rPr>
              <a:t>GET</a:t>
            </a:r>
            <a:r>
              <a:rPr lang="en-US" sz="2094">
                <a:solidFill>
                  <a:srgbClr val="5A99D1"/>
                </a:solidFill>
                <a:latin typeface="Intro Rust"/>
                <a:ea typeface="Intro Rust"/>
                <a:cs typeface="Intro Rust"/>
                <a:sym typeface="Intro Rust"/>
              </a:rPr>
              <a:t> (Le</a:t>
            </a:r>
            <a:r>
              <a:rPr lang="en-US" sz="2094">
                <a:solidFill>
                  <a:srgbClr val="5A99D1"/>
                </a:solidFill>
                <a:latin typeface="Intro Rust"/>
                <a:ea typeface="Intro Rust"/>
                <a:cs typeface="Intro Rust"/>
                <a:sym typeface="Intro Rust"/>
              </a:rPr>
              <a:t>er)</a:t>
            </a:r>
          </a:p>
        </p:txBody>
      </p:sp>
      <p:grpSp>
        <p:nvGrpSpPr>
          <p:cNvPr name="Group 15" id="15"/>
          <p:cNvGrpSpPr/>
          <p:nvPr/>
        </p:nvGrpSpPr>
        <p:grpSpPr>
          <a:xfrm rot="0">
            <a:off x="5123971" y="3468356"/>
            <a:ext cx="3744669" cy="5212946"/>
            <a:chOff x="0" y="0"/>
            <a:chExt cx="1224322" cy="1704376"/>
          </a:xfrm>
        </p:grpSpPr>
        <p:sp>
          <p:nvSpPr>
            <p:cNvPr name="Freeform 16" id="16"/>
            <p:cNvSpPr/>
            <p:nvPr/>
          </p:nvSpPr>
          <p:spPr>
            <a:xfrm flipH="false" flipV="false" rot="0">
              <a:off x="0" y="0"/>
              <a:ext cx="1224322" cy="1704376"/>
            </a:xfrm>
            <a:custGeom>
              <a:avLst/>
              <a:gdLst/>
              <a:ahLst/>
              <a:cxnLst/>
              <a:rect r="r" b="b" t="t" l="l"/>
              <a:pathLst>
                <a:path h="1704376" w="1224322">
                  <a:moveTo>
                    <a:pt x="105440" y="0"/>
                  </a:moveTo>
                  <a:lnTo>
                    <a:pt x="1118882" y="0"/>
                  </a:lnTo>
                  <a:cubicBezTo>
                    <a:pt x="1177115" y="0"/>
                    <a:pt x="1224322" y="47207"/>
                    <a:pt x="1224322" y="105440"/>
                  </a:cubicBezTo>
                  <a:lnTo>
                    <a:pt x="1224322" y="1598936"/>
                  </a:lnTo>
                  <a:cubicBezTo>
                    <a:pt x="1224322" y="1657169"/>
                    <a:pt x="1177115" y="1704376"/>
                    <a:pt x="1118882" y="1704376"/>
                  </a:cubicBezTo>
                  <a:lnTo>
                    <a:pt x="105440" y="1704376"/>
                  </a:lnTo>
                  <a:cubicBezTo>
                    <a:pt x="47207" y="1704376"/>
                    <a:pt x="0" y="1657169"/>
                    <a:pt x="0" y="1598936"/>
                  </a:cubicBezTo>
                  <a:lnTo>
                    <a:pt x="0" y="105440"/>
                  </a:lnTo>
                  <a:cubicBezTo>
                    <a:pt x="0" y="47207"/>
                    <a:pt x="47207" y="0"/>
                    <a:pt x="105440" y="0"/>
                  </a:cubicBezTo>
                  <a:close/>
                </a:path>
              </a:pathLst>
            </a:custGeom>
            <a:solidFill>
              <a:srgbClr val="E1EFFA"/>
            </a:solidFill>
          </p:spPr>
        </p:sp>
        <p:sp>
          <p:nvSpPr>
            <p:cNvPr name="TextBox 17" id="17"/>
            <p:cNvSpPr txBox="true"/>
            <p:nvPr/>
          </p:nvSpPr>
          <p:spPr>
            <a:xfrm>
              <a:off x="0" y="-142875"/>
              <a:ext cx="1224322" cy="1847251"/>
            </a:xfrm>
            <a:prstGeom prst="rect">
              <a:avLst/>
            </a:prstGeom>
          </p:spPr>
          <p:txBody>
            <a:bodyPr anchor="ctr" rtlCol="false" tIns="50800" lIns="50800" bIns="50800" rIns="50800"/>
            <a:lstStyle/>
            <a:p>
              <a:pPr algn="ctr">
                <a:lnSpc>
                  <a:spcPts val="4759"/>
                </a:lnSpc>
              </a:pPr>
            </a:p>
          </p:txBody>
        </p:sp>
      </p:grpSp>
      <p:sp>
        <p:nvSpPr>
          <p:cNvPr name="TextBox 18" id="18"/>
          <p:cNvSpPr txBox="true"/>
          <p:nvPr/>
        </p:nvSpPr>
        <p:spPr>
          <a:xfrm rot="0">
            <a:off x="5370014" y="6322724"/>
            <a:ext cx="3282537" cy="880834"/>
          </a:xfrm>
          <a:prstGeom prst="rect">
            <a:avLst/>
          </a:prstGeom>
        </p:spPr>
        <p:txBody>
          <a:bodyPr anchor="t" rtlCol="false" tIns="0" lIns="0" bIns="0" rIns="0">
            <a:spAutoFit/>
          </a:bodyPr>
          <a:lstStyle/>
          <a:p>
            <a:pPr algn="ctr">
              <a:lnSpc>
                <a:spcPts val="2273"/>
              </a:lnSpc>
            </a:pPr>
            <a:r>
              <a:rPr lang="en-US" sz="1624">
                <a:solidFill>
                  <a:srgbClr val="34495E"/>
                </a:solidFill>
                <a:latin typeface="Mero Thai"/>
                <a:ea typeface="Mero Thai"/>
                <a:cs typeface="Mero Thai"/>
                <a:sym typeface="Mero Thai"/>
              </a:rPr>
              <a:t>Envía datos al servidor para crear un nuevo recurso (por ejemplo, enviar un formulario).</a:t>
            </a:r>
          </a:p>
        </p:txBody>
      </p:sp>
      <p:sp>
        <p:nvSpPr>
          <p:cNvPr name="TextBox 19" id="19"/>
          <p:cNvSpPr txBox="true"/>
          <p:nvPr/>
        </p:nvSpPr>
        <p:spPr>
          <a:xfrm rot="0">
            <a:off x="5289548" y="5676183"/>
            <a:ext cx="3282537" cy="365670"/>
          </a:xfrm>
          <a:prstGeom prst="rect">
            <a:avLst/>
          </a:prstGeom>
        </p:spPr>
        <p:txBody>
          <a:bodyPr anchor="t" rtlCol="false" tIns="0" lIns="0" bIns="0" rIns="0">
            <a:spAutoFit/>
          </a:bodyPr>
          <a:lstStyle/>
          <a:p>
            <a:pPr algn="ctr" marL="0" indent="0" lvl="0">
              <a:lnSpc>
                <a:spcPts val="2932"/>
              </a:lnSpc>
              <a:spcBef>
                <a:spcPct val="0"/>
              </a:spcBef>
            </a:pPr>
            <a:r>
              <a:rPr lang="en-US" sz="2094" u="sng">
                <a:solidFill>
                  <a:srgbClr val="5A99D1"/>
                </a:solidFill>
                <a:latin typeface="Intro Rust"/>
                <a:ea typeface="Intro Rust"/>
                <a:cs typeface="Intro Rust"/>
                <a:sym typeface="Intro Rust"/>
                <a:hlinkClick r:id="rId5" tooltip="https://www.google.com/search?q=POST&amp;sca_esv=90400c0a8b8f484b&amp;biw=1280&amp;bih=889&amp;sxsrf=ANbL-n5sYaRbAtxo0Libpk5TGh6fHlKKEQ%3A1776815399517&amp;ei=Jw3oaYuiH86iqtsPmrPj2QE&amp;ved=2ahUKEwj17KXDkYCUAxVCnGoFHSuFIFEQgK4QegQIBBAD&amp;uact=5&amp;oq=tipos+de+request+y+uso&amp;gs_lp=Egxnd3Mtd2l6LXNlcnAiFnRpcG9zIGRlIHJlcXVlc3QgeSB1c28yBRAhGKABSOonUMAEWL8kcAF4AZABAJgBc6AB3A2qAQQyMS4xuAEDyAEA-AEBmAIXoAKYD6gCCsICFhAAGIAEGIoFGEMY5wYY6gIYtALYAQHCAhAQABgDGI8BGOoCGLQC2AEBwgIQEAAYgAQYigUYQxixAxiDAcICBRAAGIAEwgIOEAAYgAQYigUYsQMYgwHCAgsQABiABBixAxiDAcICDhAuGIAEGLEDGMcBGNEDwgIOEC4YgAQYigUYsQMYgwHCAggQABiABBixA8ICChAAGIAEGIoFGEPCAhMQLhiABBiKBRhDGLEDGMcBGNEDwgIKEC4YgAQYigUYQ8ICBBAAGAPCAggQLhiABBixA8ICDRAAGIAEGIoFGEMYsQPCAgYQABgWGB7CAggQABiABBiiBMICBRAAGO8FwgIFECEYnwWYAwXiAwUSATEgQPEFASVXJnH1HLe6BgQIARgHkgcEMjEuMqAHmnKyBwQyMC4yuAeSD8IHCDAuNS4xMC44yAeIAYAIAQ&amp;sclient=gws-wiz-serp&amp;mstk=AUtExfCzluLpHMWOWbXUBJaqapoyO-WKlNwB55T99-ASVkhSGDENyU5aCk717qHiWk4UTe9bBm_-o0VrUifZdG0v0qJq_jJIYo31aj6UXFaRa-NhnHRkCorkOk5dXM-tO_vjvGLNfuvJEUc_EJ8mlsAc93E7rsmqmSHg4-mnNHKGHRTA3Fvudy4pqFpqH1Uz5C4sLo07&amp;csui=3"/>
              </a:rPr>
              <a:t>POST</a:t>
            </a:r>
            <a:r>
              <a:rPr lang="en-US" sz="2094">
                <a:solidFill>
                  <a:srgbClr val="5A99D1"/>
                </a:solidFill>
                <a:latin typeface="Intro Rust"/>
                <a:ea typeface="Intro Rust"/>
                <a:cs typeface="Intro Rust"/>
                <a:sym typeface="Intro Rust"/>
              </a:rPr>
              <a:t> (</a:t>
            </a:r>
            <a:r>
              <a:rPr lang="en-US" sz="2094">
                <a:solidFill>
                  <a:srgbClr val="5A99D1"/>
                </a:solidFill>
                <a:latin typeface="Intro Rust"/>
                <a:ea typeface="Intro Rust"/>
                <a:cs typeface="Intro Rust"/>
                <a:sym typeface="Intro Rust"/>
              </a:rPr>
              <a:t>C</a:t>
            </a:r>
            <a:r>
              <a:rPr lang="en-US" sz="2094" strike="noStrike" u="none">
                <a:solidFill>
                  <a:srgbClr val="5A99D1"/>
                </a:solidFill>
                <a:latin typeface="Intro Rust"/>
                <a:ea typeface="Intro Rust"/>
                <a:cs typeface="Intro Rust"/>
                <a:sym typeface="Intro Rust"/>
              </a:rPr>
              <a:t>rear)</a:t>
            </a:r>
          </a:p>
        </p:txBody>
      </p:sp>
      <p:grpSp>
        <p:nvGrpSpPr>
          <p:cNvPr name="Group 20" id="20"/>
          <p:cNvGrpSpPr/>
          <p:nvPr/>
        </p:nvGrpSpPr>
        <p:grpSpPr>
          <a:xfrm rot="0">
            <a:off x="9319301" y="3468356"/>
            <a:ext cx="3744669" cy="5212946"/>
            <a:chOff x="0" y="0"/>
            <a:chExt cx="1224322" cy="1704376"/>
          </a:xfrm>
        </p:grpSpPr>
        <p:sp>
          <p:nvSpPr>
            <p:cNvPr name="Freeform 21" id="21"/>
            <p:cNvSpPr/>
            <p:nvPr/>
          </p:nvSpPr>
          <p:spPr>
            <a:xfrm flipH="false" flipV="false" rot="0">
              <a:off x="0" y="0"/>
              <a:ext cx="1224322" cy="1704376"/>
            </a:xfrm>
            <a:custGeom>
              <a:avLst/>
              <a:gdLst/>
              <a:ahLst/>
              <a:cxnLst/>
              <a:rect r="r" b="b" t="t" l="l"/>
              <a:pathLst>
                <a:path h="1704376" w="1224322">
                  <a:moveTo>
                    <a:pt x="105440" y="0"/>
                  </a:moveTo>
                  <a:lnTo>
                    <a:pt x="1118882" y="0"/>
                  </a:lnTo>
                  <a:cubicBezTo>
                    <a:pt x="1177115" y="0"/>
                    <a:pt x="1224322" y="47207"/>
                    <a:pt x="1224322" y="105440"/>
                  </a:cubicBezTo>
                  <a:lnTo>
                    <a:pt x="1224322" y="1598936"/>
                  </a:lnTo>
                  <a:cubicBezTo>
                    <a:pt x="1224322" y="1657169"/>
                    <a:pt x="1177115" y="1704376"/>
                    <a:pt x="1118882" y="1704376"/>
                  </a:cubicBezTo>
                  <a:lnTo>
                    <a:pt x="105440" y="1704376"/>
                  </a:lnTo>
                  <a:cubicBezTo>
                    <a:pt x="47207" y="1704376"/>
                    <a:pt x="0" y="1657169"/>
                    <a:pt x="0" y="1598936"/>
                  </a:cubicBezTo>
                  <a:lnTo>
                    <a:pt x="0" y="105440"/>
                  </a:lnTo>
                  <a:cubicBezTo>
                    <a:pt x="0" y="47207"/>
                    <a:pt x="47207" y="0"/>
                    <a:pt x="105440" y="0"/>
                  </a:cubicBezTo>
                  <a:close/>
                </a:path>
              </a:pathLst>
            </a:custGeom>
            <a:solidFill>
              <a:srgbClr val="E1EFFA"/>
            </a:solidFill>
          </p:spPr>
        </p:sp>
        <p:sp>
          <p:nvSpPr>
            <p:cNvPr name="TextBox 22" id="22"/>
            <p:cNvSpPr txBox="true"/>
            <p:nvPr/>
          </p:nvSpPr>
          <p:spPr>
            <a:xfrm>
              <a:off x="0" y="-142875"/>
              <a:ext cx="1224322" cy="1847251"/>
            </a:xfrm>
            <a:prstGeom prst="rect">
              <a:avLst/>
            </a:prstGeom>
          </p:spPr>
          <p:txBody>
            <a:bodyPr anchor="ctr" rtlCol="false" tIns="50800" lIns="50800" bIns="50800" rIns="50800"/>
            <a:lstStyle/>
            <a:p>
              <a:pPr algn="ctr">
                <a:lnSpc>
                  <a:spcPts val="4759"/>
                </a:lnSpc>
              </a:pPr>
            </a:p>
          </p:txBody>
        </p:sp>
      </p:grpSp>
      <p:sp>
        <p:nvSpPr>
          <p:cNvPr name="TextBox 23" id="23"/>
          <p:cNvSpPr txBox="true"/>
          <p:nvPr/>
        </p:nvSpPr>
        <p:spPr>
          <a:xfrm rot="0">
            <a:off x="9550367" y="6322724"/>
            <a:ext cx="3282537" cy="1169146"/>
          </a:xfrm>
          <a:prstGeom prst="rect">
            <a:avLst/>
          </a:prstGeom>
        </p:spPr>
        <p:txBody>
          <a:bodyPr anchor="t" rtlCol="false" tIns="0" lIns="0" bIns="0" rIns="0">
            <a:spAutoFit/>
          </a:bodyPr>
          <a:lstStyle/>
          <a:p>
            <a:pPr algn="ctr">
              <a:lnSpc>
                <a:spcPts val="2273"/>
              </a:lnSpc>
            </a:pPr>
            <a:r>
              <a:rPr lang="en-US" sz="1624">
                <a:solidFill>
                  <a:srgbClr val="34495E"/>
                </a:solidFill>
                <a:latin typeface="Mero Thai"/>
                <a:ea typeface="Mero Thai"/>
                <a:cs typeface="Mero Thai"/>
                <a:sym typeface="Mero Thai"/>
              </a:rPr>
              <a:t>Reemplaza todas las representaciones actuales del recurso de destino con la carga útil de la solicitud.</a:t>
            </a:r>
          </a:p>
        </p:txBody>
      </p:sp>
      <p:sp>
        <p:nvSpPr>
          <p:cNvPr name="TextBox 24" id="24"/>
          <p:cNvSpPr txBox="true"/>
          <p:nvPr/>
        </p:nvSpPr>
        <p:spPr>
          <a:xfrm rot="0">
            <a:off x="9550367" y="5490561"/>
            <a:ext cx="3282537" cy="736914"/>
          </a:xfrm>
          <a:prstGeom prst="rect">
            <a:avLst/>
          </a:prstGeom>
        </p:spPr>
        <p:txBody>
          <a:bodyPr anchor="t" rtlCol="false" tIns="0" lIns="0" bIns="0" rIns="0">
            <a:spAutoFit/>
          </a:bodyPr>
          <a:lstStyle/>
          <a:p>
            <a:pPr algn="ctr" marL="0" indent="0" lvl="0">
              <a:lnSpc>
                <a:spcPts val="2932"/>
              </a:lnSpc>
              <a:spcBef>
                <a:spcPct val="0"/>
              </a:spcBef>
            </a:pPr>
            <a:r>
              <a:rPr lang="en-US" sz="2094" u="sng">
                <a:solidFill>
                  <a:srgbClr val="5A99D1"/>
                </a:solidFill>
                <a:latin typeface="Intro Rust"/>
                <a:ea typeface="Intro Rust"/>
                <a:cs typeface="Intro Rust"/>
                <a:sym typeface="Intro Rust"/>
                <a:hlinkClick r:id="rId6" tooltip="https://www.google.com/search?q=PUT&amp;sca_esv=90400c0a8b8f484b&amp;biw=1280&amp;bih=889&amp;sxsrf=ANbL-n5sYaRbAtxo0Libpk5TGh6fHlKKEQ%3A1776815399517&amp;ei=Jw3oaYuiH86iqtsPmrPj2QE&amp;ved=2ahUKEwj17KXDkYCUAxVCnGoFHSuFIFEQgK4QegQIBBAF&amp;uact=5&amp;oq=tipos+de+request+y+uso&amp;gs_lp=Egxnd3Mtd2l6LXNlcnAiFnRpcG9zIGRlIHJlcXVlc3QgeSB1c28yBRAhGKABSOonUMAEWL8kcAF4AZABAJgBc6AB3A2qAQQyMS4xuAEDyAEA-AEBmAIXoAKYD6gCCsICFhAAGIAEGIoFGEMY5wYY6gIYtALYAQHCAhAQABgDGI8BGOoCGLQC2AEBwgIQEAAYgAQYigUYQxixAxiDAcICBRAAGIAEwgIOEAAYgAQYigUYsQMYgwHCAgsQABiABBixAxiDAcICDhAuGIAEGLEDGMcBGNEDwgIOEC4YgAQYigUYsQMYgwHCAggQABiABBixA8ICChAAGIAEGIoFGEPCAhMQLhiABBiKBRhDGLEDGMcBGNEDwgIKEC4YgAQYigUYQ8ICBBAAGAPCAggQLhiABBixA8ICDRAAGIAEGIoFGEMYsQPCAgYQABgWGB7CAggQABiABBiiBMICBRAAGO8FwgIFECEYnwWYAwXiAwUSATEgQPEFASVXJnH1HLe6BgQIARgHkgcEMjEuMqAHmnKyBwQyMC4yuAeSD8IHCDAuNS4xMC44yAeIAYAIAQ&amp;sclient=gws-wiz-serp&amp;mstk=AUtExfCzluLpHMWOWbXUBJaqapoyO-WKlNwB55T99-ASVkhSGDENyU5aCk717qHiWk4UTe9bBm_-o0VrUifZdG0v0qJq_jJIYo31aj6UXFaRa-NhnHRkCorkOk5dXM-tO_vjvGLNfuvJEUc_EJ8mlsAc93E7rsmqmSHg4-mnNHKGHRTA3Fvudy4pqFpqH1Uz5C4sLo07&amp;csui=3"/>
              </a:rPr>
              <a:t>PUT</a:t>
            </a:r>
            <a:r>
              <a:rPr lang="en-US" sz="2094">
                <a:solidFill>
                  <a:srgbClr val="5A99D1"/>
                </a:solidFill>
                <a:latin typeface="Intro Rust"/>
                <a:ea typeface="Intro Rust"/>
                <a:cs typeface="Intro Rust"/>
                <a:sym typeface="Intro Rust"/>
              </a:rPr>
              <a:t> (Actua</a:t>
            </a:r>
            <a:r>
              <a:rPr lang="en-US" sz="2094" strike="noStrike" u="none">
                <a:solidFill>
                  <a:srgbClr val="5A99D1"/>
                </a:solidFill>
                <a:latin typeface="Intro Rust"/>
                <a:ea typeface="Intro Rust"/>
                <a:cs typeface="Intro Rust"/>
                <a:sym typeface="Intro Rust"/>
              </a:rPr>
              <a:t>lizar completo)</a:t>
            </a:r>
          </a:p>
        </p:txBody>
      </p:sp>
      <p:sp>
        <p:nvSpPr>
          <p:cNvPr name="Freeform 25" id="25"/>
          <p:cNvSpPr/>
          <p:nvPr/>
        </p:nvSpPr>
        <p:spPr>
          <a:xfrm flipH="false" flipV="false" rot="0">
            <a:off x="1696514" y="3788757"/>
            <a:ext cx="2409041" cy="1511673"/>
          </a:xfrm>
          <a:custGeom>
            <a:avLst/>
            <a:gdLst/>
            <a:ahLst/>
            <a:cxnLst/>
            <a:rect r="r" b="b" t="t" l="l"/>
            <a:pathLst>
              <a:path h="1511673" w="2409041">
                <a:moveTo>
                  <a:pt x="0" y="0"/>
                </a:moveTo>
                <a:lnTo>
                  <a:pt x="2409041" y="0"/>
                </a:lnTo>
                <a:lnTo>
                  <a:pt x="2409041" y="1511673"/>
                </a:lnTo>
                <a:lnTo>
                  <a:pt x="0" y="151167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26" id="26"/>
          <p:cNvSpPr/>
          <p:nvPr/>
        </p:nvSpPr>
        <p:spPr>
          <a:xfrm flipH="false" flipV="false" rot="0">
            <a:off x="14217434" y="3788757"/>
            <a:ext cx="2409041" cy="1511673"/>
          </a:xfrm>
          <a:custGeom>
            <a:avLst/>
            <a:gdLst/>
            <a:ahLst/>
            <a:cxnLst/>
            <a:rect r="r" b="b" t="t" l="l"/>
            <a:pathLst>
              <a:path h="1511673" w="2409041">
                <a:moveTo>
                  <a:pt x="0" y="0"/>
                </a:moveTo>
                <a:lnTo>
                  <a:pt x="2409041" y="0"/>
                </a:lnTo>
                <a:lnTo>
                  <a:pt x="2409041" y="1511673"/>
                </a:lnTo>
                <a:lnTo>
                  <a:pt x="0" y="151167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27" id="27"/>
          <p:cNvSpPr/>
          <p:nvPr/>
        </p:nvSpPr>
        <p:spPr>
          <a:xfrm flipH="false" flipV="false" rot="0">
            <a:off x="9931642" y="4090836"/>
            <a:ext cx="2519987" cy="1209594"/>
          </a:xfrm>
          <a:custGeom>
            <a:avLst/>
            <a:gdLst/>
            <a:ahLst/>
            <a:cxnLst/>
            <a:rect r="r" b="b" t="t" l="l"/>
            <a:pathLst>
              <a:path h="1209594" w="2519987">
                <a:moveTo>
                  <a:pt x="0" y="0"/>
                </a:moveTo>
                <a:lnTo>
                  <a:pt x="2519987" y="0"/>
                </a:lnTo>
                <a:lnTo>
                  <a:pt x="2519987" y="1209594"/>
                </a:lnTo>
                <a:lnTo>
                  <a:pt x="0" y="120959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28" id="28"/>
          <p:cNvSpPr/>
          <p:nvPr/>
        </p:nvSpPr>
        <p:spPr>
          <a:xfrm flipH="false" flipV="false" rot="0">
            <a:off x="5942168" y="3643095"/>
            <a:ext cx="1977297" cy="1657335"/>
          </a:xfrm>
          <a:custGeom>
            <a:avLst/>
            <a:gdLst/>
            <a:ahLst/>
            <a:cxnLst/>
            <a:rect r="r" b="b" t="t" l="l"/>
            <a:pathLst>
              <a:path h="1657335" w="1977297">
                <a:moveTo>
                  <a:pt x="0" y="0"/>
                </a:moveTo>
                <a:lnTo>
                  <a:pt x="1977297" y="0"/>
                </a:lnTo>
                <a:lnTo>
                  <a:pt x="1977297" y="1657335"/>
                </a:lnTo>
                <a:lnTo>
                  <a:pt x="0" y="165733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29" id="29"/>
          <p:cNvSpPr/>
          <p:nvPr/>
        </p:nvSpPr>
        <p:spPr>
          <a:xfrm flipH="false" flipV="false" rot="0">
            <a:off x="2525597" y="4121299"/>
            <a:ext cx="836249" cy="700928"/>
          </a:xfrm>
          <a:custGeom>
            <a:avLst/>
            <a:gdLst/>
            <a:ahLst/>
            <a:cxnLst/>
            <a:rect r="r" b="b" t="t" l="l"/>
            <a:pathLst>
              <a:path h="700928" w="836249">
                <a:moveTo>
                  <a:pt x="0" y="0"/>
                </a:moveTo>
                <a:lnTo>
                  <a:pt x="836249" y="0"/>
                </a:lnTo>
                <a:lnTo>
                  <a:pt x="836249" y="700928"/>
                </a:lnTo>
                <a:lnTo>
                  <a:pt x="0" y="70092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4429645"/>
            <a:ext cx="1394835" cy="1349470"/>
            <a:chOff x="0" y="0"/>
            <a:chExt cx="840124" cy="812800"/>
          </a:xfrm>
        </p:grpSpPr>
        <p:sp>
          <p:nvSpPr>
            <p:cNvPr name="Freeform 3" id="3"/>
            <p:cNvSpPr/>
            <p:nvPr/>
          </p:nvSpPr>
          <p:spPr>
            <a:xfrm flipH="false" flipV="false" rot="0">
              <a:off x="0" y="0"/>
              <a:ext cx="840124" cy="812800"/>
            </a:xfrm>
            <a:custGeom>
              <a:avLst/>
              <a:gdLst/>
              <a:ahLst/>
              <a:cxnLst/>
              <a:rect r="r" b="b" t="t" l="l"/>
              <a:pathLst>
                <a:path h="812800" w="840124">
                  <a:moveTo>
                    <a:pt x="420062" y="0"/>
                  </a:moveTo>
                  <a:cubicBezTo>
                    <a:pt x="188068" y="0"/>
                    <a:pt x="0" y="181951"/>
                    <a:pt x="0" y="406400"/>
                  </a:cubicBezTo>
                  <a:cubicBezTo>
                    <a:pt x="0" y="630849"/>
                    <a:pt x="188068" y="812800"/>
                    <a:pt x="420062" y="812800"/>
                  </a:cubicBezTo>
                  <a:cubicBezTo>
                    <a:pt x="652056" y="812800"/>
                    <a:pt x="840124" y="630849"/>
                    <a:pt x="840124" y="406400"/>
                  </a:cubicBezTo>
                  <a:cubicBezTo>
                    <a:pt x="840124" y="181951"/>
                    <a:pt x="652056" y="0"/>
                    <a:pt x="420062" y="0"/>
                  </a:cubicBezTo>
                  <a:close/>
                </a:path>
              </a:pathLst>
            </a:custGeom>
            <a:solidFill>
              <a:srgbClr val="A8D0F0"/>
            </a:solidFill>
          </p:spPr>
        </p:sp>
        <p:sp>
          <p:nvSpPr>
            <p:cNvPr name="TextBox 4" id="4"/>
            <p:cNvSpPr txBox="true"/>
            <p:nvPr/>
          </p:nvSpPr>
          <p:spPr>
            <a:xfrm>
              <a:off x="78762" y="-9525"/>
              <a:ext cx="682601" cy="746125"/>
            </a:xfrm>
            <a:prstGeom prst="rect">
              <a:avLst/>
            </a:prstGeom>
          </p:spPr>
          <p:txBody>
            <a:bodyPr anchor="ctr" rtlCol="false" tIns="50800" lIns="50800" bIns="50800" rIns="50800"/>
            <a:lstStyle/>
            <a:p>
              <a:pPr algn="ctr">
                <a:lnSpc>
                  <a:spcPts val="5599"/>
                </a:lnSpc>
              </a:pPr>
              <a:r>
                <a:rPr lang="en-US" sz="3999">
                  <a:solidFill>
                    <a:srgbClr val="34495E"/>
                  </a:solidFill>
                  <a:latin typeface="Intro Rust"/>
                  <a:ea typeface="Intro Rust"/>
                  <a:cs typeface="Intro Rust"/>
                  <a:sym typeface="Intro Rust"/>
                </a:rPr>
                <a:t>01</a:t>
              </a:r>
            </a:p>
          </p:txBody>
        </p:sp>
      </p:grpSp>
      <p:grpSp>
        <p:nvGrpSpPr>
          <p:cNvPr name="Group 5" id="5"/>
          <p:cNvGrpSpPr/>
          <p:nvPr/>
        </p:nvGrpSpPr>
        <p:grpSpPr>
          <a:xfrm rot="0">
            <a:off x="9602536" y="4429645"/>
            <a:ext cx="1395095" cy="1349470"/>
            <a:chOff x="0" y="0"/>
            <a:chExt cx="840281" cy="812800"/>
          </a:xfrm>
        </p:grpSpPr>
        <p:sp>
          <p:nvSpPr>
            <p:cNvPr name="Freeform 6" id="6"/>
            <p:cNvSpPr/>
            <p:nvPr/>
          </p:nvSpPr>
          <p:spPr>
            <a:xfrm flipH="false" flipV="false" rot="0">
              <a:off x="0" y="0"/>
              <a:ext cx="840281" cy="812800"/>
            </a:xfrm>
            <a:custGeom>
              <a:avLst/>
              <a:gdLst/>
              <a:ahLst/>
              <a:cxnLst/>
              <a:rect r="r" b="b" t="t" l="l"/>
              <a:pathLst>
                <a:path h="812800" w="840281">
                  <a:moveTo>
                    <a:pt x="420140" y="0"/>
                  </a:moveTo>
                  <a:cubicBezTo>
                    <a:pt x="188103" y="0"/>
                    <a:pt x="0" y="181951"/>
                    <a:pt x="0" y="406400"/>
                  </a:cubicBezTo>
                  <a:cubicBezTo>
                    <a:pt x="0" y="630849"/>
                    <a:pt x="188103" y="812800"/>
                    <a:pt x="420140" y="812800"/>
                  </a:cubicBezTo>
                  <a:cubicBezTo>
                    <a:pt x="652178" y="812800"/>
                    <a:pt x="840281" y="630849"/>
                    <a:pt x="840281" y="406400"/>
                  </a:cubicBezTo>
                  <a:cubicBezTo>
                    <a:pt x="840281" y="181951"/>
                    <a:pt x="652178" y="0"/>
                    <a:pt x="420140" y="0"/>
                  </a:cubicBezTo>
                  <a:close/>
                </a:path>
              </a:pathLst>
            </a:custGeom>
            <a:solidFill>
              <a:srgbClr val="A8D0F0"/>
            </a:solidFill>
            <a:ln cap="sq">
              <a:noFill/>
              <a:prstDash val="solid"/>
              <a:miter/>
            </a:ln>
          </p:spPr>
        </p:sp>
        <p:sp>
          <p:nvSpPr>
            <p:cNvPr name="TextBox 7" id="7"/>
            <p:cNvSpPr txBox="true"/>
            <p:nvPr/>
          </p:nvSpPr>
          <p:spPr>
            <a:xfrm>
              <a:off x="78776" y="-9525"/>
              <a:ext cx="682728" cy="746125"/>
            </a:xfrm>
            <a:prstGeom prst="rect">
              <a:avLst/>
            </a:prstGeom>
          </p:spPr>
          <p:txBody>
            <a:bodyPr anchor="ctr" rtlCol="false" tIns="50800" lIns="50800" bIns="50800" rIns="50800"/>
            <a:lstStyle/>
            <a:p>
              <a:pPr algn="ctr" marL="0" indent="0" lvl="0">
                <a:lnSpc>
                  <a:spcPts val="5599"/>
                </a:lnSpc>
                <a:spcBef>
                  <a:spcPct val="0"/>
                </a:spcBef>
              </a:pPr>
              <a:r>
                <a:rPr lang="en-US" sz="3999" strike="noStrike" u="none">
                  <a:solidFill>
                    <a:srgbClr val="34495E"/>
                  </a:solidFill>
                  <a:latin typeface="Intro Rust"/>
                  <a:ea typeface="Intro Rust"/>
                  <a:cs typeface="Intro Rust"/>
                  <a:sym typeface="Intro Rust"/>
                </a:rPr>
                <a:t>03</a:t>
              </a:r>
            </a:p>
          </p:txBody>
        </p:sp>
      </p:grpSp>
      <p:grpSp>
        <p:nvGrpSpPr>
          <p:cNvPr name="Group 8" id="8"/>
          <p:cNvGrpSpPr/>
          <p:nvPr/>
        </p:nvGrpSpPr>
        <p:grpSpPr>
          <a:xfrm rot="0">
            <a:off x="1028700" y="7195161"/>
            <a:ext cx="1394835" cy="1349470"/>
            <a:chOff x="0" y="0"/>
            <a:chExt cx="840124" cy="812800"/>
          </a:xfrm>
        </p:grpSpPr>
        <p:sp>
          <p:nvSpPr>
            <p:cNvPr name="Freeform 9" id="9"/>
            <p:cNvSpPr/>
            <p:nvPr/>
          </p:nvSpPr>
          <p:spPr>
            <a:xfrm flipH="false" flipV="false" rot="0">
              <a:off x="0" y="0"/>
              <a:ext cx="840124" cy="812800"/>
            </a:xfrm>
            <a:custGeom>
              <a:avLst/>
              <a:gdLst/>
              <a:ahLst/>
              <a:cxnLst/>
              <a:rect r="r" b="b" t="t" l="l"/>
              <a:pathLst>
                <a:path h="812800" w="840124">
                  <a:moveTo>
                    <a:pt x="420062" y="0"/>
                  </a:moveTo>
                  <a:cubicBezTo>
                    <a:pt x="188068" y="0"/>
                    <a:pt x="0" y="181951"/>
                    <a:pt x="0" y="406400"/>
                  </a:cubicBezTo>
                  <a:cubicBezTo>
                    <a:pt x="0" y="630849"/>
                    <a:pt x="188068" y="812800"/>
                    <a:pt x="420062" y="812800"/>
                  </a:cubicBezTo>
                  <a:cubicBezTo>
                    <a:pt x="652056" y="812800"/>
                    <a:pt x="840124" y="630849"/>
                    <a:pt x="840124" y="406400"/>
                  </a:cubicBezTo>
                  <a:cubicBezTo>
                    <a:pt x="840124" y="181951"/>
                    <a:pt x="652056" y="0"/>
                    <a:pt x="420062" y="0"/>
                  </a:cubicBezTo>
                  <a:close/>
                </a:path>
              </a:pathLst>
            </a:custGeom>
            <a:solidFill>
              <a:srgbClr val="A8D0F0"/>
            </a:solidFill>
            <a:ln cap="sq">
              <a:noFill/>
              <a:prstDash val="solid"/>
              <a:miter/>
            </a:ln>
          </p:spPr>
        </p:sp>
        <p:sp>
          <p:nvSpPr>
            <p:cNvPr name="TextBox 10" id="10"/>
            <p:cNvSpPr txBox="true"/>
            <p:nvPr/>
          </p:nvSpPr>
          <p:spPr>
            <a:xfrm>
              <a:off x="78762" y="-9525"/>
              <a:ext cx="682601" cy="746125"/>
            </a:xfrm>
            <a:prstGeom prst="rect">
              <a:avLst/>
            </a:prstGeom>
          </p:spPr>
          <p:txBody>
            <a:bodyPr anchor="ctr" rtlCol="false" tIns="50800" lIns="50800" bIns="50800" rIns="50800"/>
            <a:lstStyle/>
            <a:p>
              <a:pPr algn="ctr" marL="0" indent="0" lvl="0">
                <a:lnSpc>
                  <a:spcPts val="5599"/>
                </a:lnSpc>
                <a:spcBef>
                  <a:spcPct val="0"/>
                </a:spcBef>
              </a:pPr>
              <a:r>
                <a:rPr lang="en-US" sz="3999" strike="noStrike" u="none">
                  <a:solidFill>
                    <a:srgbClr val="34495E"/>
                  </a:solidFill>
                  <a:latin typeface="Intro Rust"/>
                  <a:ea typeface="Intro Rust"/>
                  <a:cs typeface="Intro Rust"/>
                  <a:sym typeface="Intro Rust"/>
                </a:rPr>
                <a:t>02</a:t>
              </a:r>
            </a:p>
          </p:txBody>
        </p:sp>
      </p:grpSp>
      <p:grpSp>
        <p:nvGrpSpPr>
          <p:cNvPr name="Group 11" id="11"/>
          <p:cNvGrpSpPr/>
          <p:nvPr/>
        </p:nvGrpSpPr>
        <p:grpSpPr>
          <a:xfrm rot="0">
            <a:off x="9602536" y="7195161"/>
            <a:ext cx="1395095" cy="1349470"/>
            <a:chOff x="0" y="0"/>
            <a:chExt cx="840281" cy="812800"/>
          </a:xfrm>
        </p:grpSpPr>
        <p:sp>
          <p:nvSpPr>
            <p:cNvPr name="Freeform 12" id="12"/>
            <p:cNvSpPr/>
            <p:nvPr/>
          </p:nvSpPr>
          <p:spPr>
            <a:xfrm flipH="false" flipV="false" rot="0">
              <a:off x="0" y="0"/>
              <a:ext cx="840281" cy="812800"/>
            </a:xfrm>
            <a:custGeom>
              <a:avLst/>
              <a:gdLst/>
              <a:ahLst/>
              <a:cxnLst/>
              <a:rect r="r" b="b" t="t" l="l"/>
              <a:pathLst>
                <a:path h="812800" w="840281">
                  <a:moveTo>
                    <a:pt x="420140" y="0"/>
                  </a:moveTo>
                  <a:cubicBezTo>
                    <a:pt x="188103" y="0"/>
                    <a:pt x="0" y="181951"/>
                    <a:pt x="0" y="406400"/>
                  </a:cubicBezTo>
                  <a:cubicBezTo>
                    <a:pt x="0" y="630849"/>
                    <a:pt x="188103" y="812800"/>
                    <a:pt x="420140" y="812800"/>
                  </a:cubicBezTo>
                  <a:cubicBezTo>
                    <a:pt x="652178" y="812800"/>
                    <a:pt x="840281" y="630849"/>
                    <a:pt x="840281" y="406400"/>
                  </a:cubicBezTo>
                  <a:cubicBezTo>
                    <a:pt x="840281" y="181951"/>
                    <a:pt x="652178" y="0"/>
                    <a:pt x="420140" y="0"/>
                  </a:cubicBezTo>
                  <a:close/>
                </a:path>
              </a:pathLst>
            </a:custGeom>
            <a:solidFill>
              <a:srgbClr val="A8D0F0"/>
            </a:solidFill>
            <a:ln cap="sq">
              <a:noFill/>
              <a:prstDash val="solid"/>
              <a:miter/>
            </a:ln>
          </p:spPr>
        </p:sp>
        <p:sp>
          <p:nvSpPr>
            <p:cNvPr name="TextBox 13" id="13"/>
            <p:cNvSpPr txBox="true"/>
            <p:nvPr/>
          </p:nvSpPr>
          <p:spPr>
            <a:xfrm>
              <a:off x="78776" y="-9525"/>
              <a:ext cx="682728" cy="746125"/>
            </a:xfrm>
            <a:prstGeom prst="rect">
              <a:avLst/>
            </a:prstGeom>
          </p:spPr>
          <p:txBody>
            <a:bodyPr anchor="ctr" rtlCol="false" tIns="50800" lIns="50800" bIns="50800" rIns="50800"/>
            <a:lstStyle/>
            <a:p>
              <a:pPr algn="ctr" marL="0" indent="0" lvl="0">
                <a:lnSpc>
                  <a:spcPts val="5599"/>
                </a:lnSpc>
                <a:spcBef>
                  <a:spcPct val="0"/>
                </a:spcBef>
              </a:pPr>
              <a:r>
                <a:rPr lang="en-US" sz="3999" strike="noStrike" u="none">
                  <a:solidFill>
                    <a:srgbClr val="34495E"/>
                  </a:solidFill>
                  <a:latin typeface="Intro Rust"/>
                  <a:ea typeface="Intro Rust"/>
                  <a:cs typeface="Intro Rust"/>
                  <a:sym typeface="Intro Rust"/>
                </a:rPr>
                <a:t>04</a:t>
              </a:r>
            </a:p>
          </p:txBody>
        </p:sp>
      </p:grpSp>
      <p:sp>
        <p:nvSpPr>
          <p:cNvPr name="Freeform 14" id="14"/>
          <p:cNvSpPr/>
          <p:nvPr/>
        </p:nvSpPr>
        <p:spPr>
          <a:xfrm flipH="false" flipV="false" rot="0">
            <a:off x="14086698" y="1028700"/>
            <a:ext cx="3172602" cy="2532313"/>
          </a:xfrm>
          <a:custGeom>
            <a:avLst/>
            <a:gdLst/>
            <a:ahLst/>
            <a:cxnLst/>
            <a:rect r="r" b="b" t="t" l="l"/>
            <a:pathLst>
              <a:path h="2532313" w="3172602">
                <a:moveTo>
                  <a:pt x="0" y="0"/>
                </a:moveTo>
                <a:lnTo>
                  <a:pt x="3172602" y="0"/>
                </a:lnTo>
                <a:lnTo>
                  <a:pt x="3172602" y="2532313"/>
                </a:lnTo>
                <a:lnTo>
                  <a:pt x="0" y="25323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5" id="15"/>
          <p:cNvSpPr/>
          <p:nvPr/>
        </p:nvSpPr>
        <p:spPr>
          <a:xfrm flipH="false" flipV="false" rot="0">
            <a:off x="1029313" y="1028700"/>
            <a:ext cx="3168625" cy="2483050"/>
          </a:xfrm>
          <a:custGeom>
            <a:avLst/>
            <a:gdLst/>
            <a:ahLst/>
            <a:cxnLst/>
            <a:rect r="r" b="b" t="t" l="l"/>
            <a:pathLst>
              <a:path h="2483050" w="3168625">
                <a:moveTo>
                  <a:pt x="0" y="0"/>
                </a:moveTo>
                <a:lnTo>
                  <a:pt x="3168625" y="0"/>
                </a:lnTo>
                <a:lnTo>
                  <a:pt x="3168625" y="2483050"/>
                </a:lnTo>
                <a:lnTo>
                  <a:pt x="0" y="24830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grpSp>
        <p:nvGrpSpPr>
          <p:cNvPr name="Group 16" id="16"/>
          <p:cNvGrpSpPr/>
          <p:nvPr/>
        </p:nvGrpSpPr>
        <p:grpSpPr>
          <a:xfrm rot="0">
            <a:off x="4350338" y="1028700"/>
            <a:ext cx="9587324" cy="1943073"/>
            <a:chOff x="0" y="0"/>
            <a:chExt cx="12783098" cy="2590764"/>
          </a:xfrm>
        </p:grpSpPr>
        <p:sp>
          <p:nvSpPr>
            <p:cNvPr name="TextBox 17" id="17"/>
            <p:cNvSpPr txBox="true"/>
            <p:nvPr/>
          </p:nvSpPr>
          <p:spPr>
            <a:xfrm rot="0">
              <a:off x="0" y="-133350"/>
              <a:ext cx="12783098" cy="1525615"/>
            </a:xfrm>
            <a:prstGeom prst="rect">
              <a:avLst/>
            </a:prstGeom>
          </p:spPr>
          <p:txBody>
            <a:bodyPr anchor="t" rtlCol="false" tIns="0" lIns="0" bIns="0" rIns="0">
              <a:spAutoFit/>
            </a:bodyPr>
            <a:lstStyle/>
            <a:p>
              <a:pPr algn="ctr">
                <a:lnSpc>
                  <a:spcPts val="9645"/>
                </a:lnSpc>
              </a:pPr>
              <a:r>
                <a:rPr lang="en-US" sz="6889">
                  <a:solidFill>
                    <a:srgbClr val="34495E"/>
                  </a:solidFill>
                  <a:latin typeface="Intro Rust"/>
                  <a:ea typeface="Intro Rust"/>
                  <a:cs typeface="Intro Rust"/>
                  <a:sym typeface="Intro Rust"/>
                </a:rPr>
                <a:t>Funcionamiento</a:t>
              </a:r>
            </a:p>
          </p:txBody>
        </p:sp>
        <p:sp>
          <p:nvSpPr>
            <p:cNvPr name="TextBox 18" id="18"/>
            <p:cNvSpPr txBox="true"/>
            <p:nvPr/>
          </p:nvSpPr>
          <p:spPr>
            <a:xfrm rot="0">
              <a:off x="0" y="1432524"/>
              <a:ext cx="12783098" cy="1158240"/>
            </a:xfrm>
            <a:prstGeom prst="rect">
              <a:avLst/>
            </a:prstGeom>
          </p:spPr>
          <p:txBody>
            <a:bodyPr anchor="t" rtlCol="false" tIns="0" lIns="0" bIns="0" rIns="0">
              <a:spAutoFit/>
            </a:bodyPr>
            <a:lstStyle/>
            <a:p>
              <a:pPr algn="ctr" marL="0" indent="0" lvl="0">
                <a:lnSpc>
                  <a:spcPts val="6719"/>
                </a:lnSpc>
                <a:spcBef>
                  <a:spcPct val="0"/>
                </a:spcBef>
              </a:pPr>
              <a:r>
                <a:rPr lang="en-US" sz="4800">
                  <a:solidFill>
                    <a:srgbClr val="5A99D1"/>
                  </a:solidFill>
                  <a:latin typeface="Mero Thai"/>
                  <a:ea typeface="Mero Thai"/>
                  <a:cs typeface="Mero Thai"/>
                  <a:sym typeface="Mero Thai"/>
                </a:rPr>
                <a:t>De los tipos de request</a:t>
              </a:r>
            </a:p>
          </p:txBody>
        </p:sp>
      </p:grpSp>
      <p:sp>
        <p:nvSpPr>
          <p:cNvPr name="TextBox 19" id="19"/>
          <p:cNvSpPr txBox="true"/>
          <p:nvPr/>
        </p:nvSpPr>
        <p:spPr>
          <a:xfrm rot="0">
            <a:off x="2842998" y="4353445"/>
            <a:ext cx="6253452" cy="2139537"/>
          </a:xfrm>
          <a:prstGeom prst="rect">
            <a:avLst/>
          </a:prstGeom>
        </p:spPr>
        <p:txBody>
          <a:bodyPr anchor="t" rtlCol="false" tIns="0" lIns="0" bIns="0" rIns="0">
            <a:spAutoFit/>
          </a:bodyPr>
          <a:lstStyle/>
          <a:p>
            <a:pPr algn="l" marL="0" indent="0" lvl="0">
              <a:lnSpc>
                <a:spcPts val="2822"/>
              </a:lnSpc>
              <a:spcBef>
                <a:spcPct val="0"/>
              </a:spcBef>
            </a:pPr>
            <a:r>
              <a:rPr lang="en-US" sz="2016" u="sng">
                <a:solidFill>
                  <a:srgbClr val="34495E"/>
                </a:solidFill>
                <a:latin typeface="Mero Thai"/>
                <a:ea typeface="Mero Thai"/>
                <a:cs typeface="Mero Thai"/>
                <a:sym typeface="Mero Thai"/>
                <a:hlinkClick r:id="rId6" tooltip="https://www.google.com/search?q=GET&amp;sca_esv=90400c0a8b8f484b&amp;biw=1280&amp;bih=889&amp;sxsrf=ANbL-n6QobJvN1cAAhJ0Nv5xIlQmDm_ySw%3A1776815494781&amp;ei=hg3oaam0L_GzqtsP-ovJ4AE&amp;ved=2ahUKEwjmptKDlICUAxUnlmoFHSgaA8MQgK4QegQIAxAB&amp;uact=5&amp;oq=tipos+de+request+y+uso+get+delet+post+y+put&amp;gs_lp=Egxnd3Mtd2l6LXNlcnAiK3RpcG9zIGRlIHJlcXVlc3QgeSB1c28gZ2V0IGRlbGV0IHBvc3QgeSBwdXQyBxAhGAoYoAEyBxAhGAoYoAFIzXlQ7gRY0XdwBXgAkAEAmAHUAaAB7haqAQcxMS4xNC4xuAEDyAEA-AEBmAIeoALUFsICChAAGEcY1gQYsAPCAgUQIRigAcICBRAhGJ8FwgIEECEYFcICBhAhGBUYCpgDAIgGAZAGApIHBzExLjE4LjGgB991sgcGNi4xOC4xuAfBFsIHBzEuMTIuMTfIB2GACAE&amp;sclient=gws-wiz-serp&amp;mstk=AUtExfAjFqSgkSXgnDfX2H4pL4VhmiGNbuNISF_nvm21lwgXUFR7Ffjvgq71LomzogJXVOVBSAYk9guR8_uzSec-cD1u0ubGZ_rJS-2m02YnpqICwDQZSgKwcxG19luzl1pBKwT8hahnUUpQAlOq_0ZFCgEAfTfanaAwI-6ycKdbKT469Cc&amp;csui=3"/>
              </a:rPr>
              <a:t>GET</a:t>
            </a:r>
            <a:r>
              <a:rPr lang="en-US" sz="2016">
                <a:solidFill>
                  <a:srgbClr val="34495E"/>
                </a:solidFill>
                <a:latin typeface="Mero Thai"/>
                <a:ea typeface="Mero Thai"/>
                <a:cs typeface="Mero Thai"/>
                <a:sym typeface="Mero Thai"/>
              </a:rPr>
              <a:t> (</a:t>
            </a:r>
            <a:r>
              <a:rPr lang="en-US" sz="2016" strike="noStrike" u="none">
                <a:solidFill>
                  <a:srgbClr val="34495E"/>
                </a:solidFill>
                <a:latin typeface="Mero Thai"/>
                <a:ea typeface="Mero Thai"/>
                <a:cs typeface="Mero Thai"/>
                <a:sym typeface="Mero Thai"/>
              </a:rPr>
              <a:t>Leer/Consultar): Se utiliza para recuperar información de un servidor sin modificar su estado (seguro e idempotente).</a:t>
            </a:r>
          </a:p>
          <a:p>
            <a:pPr algn="l">
              <a:lnSpc>
                <a:spcPts val="2822"/>
              </a:lnSpc>
              <a:spcBef>
                <a:spcPct val="0"/>
              </a:spcBef>
            </a:pPr>
            <a:r>
              <a:rPr lang="en-US" sz="2016" strike="noStrike" u="none">
                <a:solidFill>
                  <a:srgbClr val="34495E"/>
                </a:solidFill>
                <a:latin typeface="Mero Thai"/>
                <a:ea typeface="Mero Thai"/>
                <a:cs typeface="Mero Thai"/>
                <a:sym typeface="Mero Thai"/>
              </a:rPr>
              <a:t>Uso: Cargar perfiles, buscar productos, listar usuarios.</a:t>
            </a:r>
          </a:p>
          <a:p>
            <a:pPr algn="l" marL="0" indent="0" lvl="0">
              <a:lnSpc>
                <a:spcPts val="2822"/>
              </a:lnSpc>
              <a:spcBef>
                <a:spcPct val="0"/>
              </a:spcBef>
            </a:pPr>
          </a:p>
        </p:txBody>
      </p:sp>
      <p:sp>
        <p:nvSpPr>
          <p:cNvPr name="TextBox 20" id="20"/>
          <p:cNvSpPr txBox="true"/>
          <p:nvPr/>
        </p:nvSpPr>
        <p:spPr>
          <a:xfrm rot="0">
            <a:off x="11416731" y="4353445"/>
            <a:ext cx="6253438" cy="2844387"/>
          </a:xfrm>
          <a:prstGeom prst="rect">
            <a:avLst/>
          </a:prstGeom>
        </p:spPr>
        <p:txBody>
          <a:bodyPr anchor="t" rtlCol="false" tIns="0" lIns="0" bIns="0" rIns="0">
            <a:spAutoFit/>
          </a:bodyPr>
          <a:lstStyle/>
          <a:p>
            <a:pPr algn="l" marL="0" indent="0" lvl="0">
              <a:lnSpc>
                <a:spcPts val="2822"/>
              </a:lnSpc>
              <a:spcBef>
                <a:spcPct val="0"/>
              </a:spcBef>
            </a:pPr>
            <a:r>
              <a:rPr lang="en-US" sz="2016" u="sng">
                <a:solidFill>
                  <a:srgbClr val="34495E"/>
                </a:solidFill>
                <a:latin typeface="Mero Thai"/>
                <a:ea typeface="Mero Thai"/>
                <a:cs typeface="Mero Thai"/>
                <a:sym typeface="Mero Thai"/>
                <a:hlinkClick r:id="rId7" tooltip="https://www.google.com/search?q=PUT&amp;sca_esv=90400c0a8b8f484b&amp;biw=1280&amp;bih=889&amp;sxsrf=ANbL-n6QobJvN1cAAhJ0Nv5xIlQmDm_ySw%3A1776815494781&amp;ei=hg3oaam0L_GzqtsP-ovJ4AE&amp;ved=2ahUKEwjmptKDlICUAxUnlmoFHSgaA8MQgK4QegQIAxAJ&amp;uact=5&amp;oq=tipos+de+request+y+uso+get+delet+post+y+put&amp;gs_lp=Egxnd3Mtd2l6LXNlcnAiK3RpcG9zIGRlIHJlcXVlc3QgeSB1c28gZ2V0IGRlbGV0IHBvc3QgeSBwdXQyBxAhGAoYoAEyBxAhGAoYoAFIzXlQ7gRY0XdwBXgAkAEAmAHUAaAB7haqAQcxMS4xNC4xuAEDyAEA-AEBmAIeoALUFsICChAAGEcY1gQYsAPCAgUQIRigAcICBRAhGJ8FwgIEECEYFcICBhAhGBUYCpgDAIgGAZAGApIHBzExLjE4LjGgB991sgcGNi4xOC4xuAfBFsIHBzEuMTIuMTfIB2GACAE&amp;sclient=gws-wiz-serp&amp;mstk=AUtExfAjFqSgkSXgnDfX2H4pL4VhmiGNbuNISF_nvm21lwgXUFR7Ffjvgq71LomzogJXVOVBSAYk9guR8_uzSec-cD1u0ubGZ_rJS-2m02YnpqICwDQZSgKwcxG19luzl1pBKwT8hahnUUpQAlOq_0ZFCgEAfTfanaAwI-6ycKdbKT469Cc&amp;csui=3"/>
              </a:rPr>
              <a:t>PUT</a:t>
            </a:r>
            <a:r>
              <a:rPr lang="en-US" sz="2016">
                <a:solidFill>
                  <a:srgbClr val="34495E"/>
                </a:solidFill>
                <a:latin typeface="Mero Thai"/>
                <a:ea typeface="Mero Thai"/>
                <a:cs typeface="Mero Thai"/>
                <a:sym typeface="Mero Thai"/>
              </a:rPr>
              <a:t> (Actualiza</a:t>
            </a:r>
            <a:r>
              <a:rPr lang="en-US" sz="2016" strike="noStrike" u="none">
                <a:solidFill>
                  <a:srgbClr val="34495E"/>
                </a:solidFill>
                <a:latin typeface="Mero Thai"/>
                <a:ea typeface="Mero Thai"/>
                <a:cs typeface="Mero Thai"/>
                <a:sym typeface="Mero Thai"/>
              </a:rPr>
              <a:t>r/Reemplazar): Reemplaza por completo un recurso existente en el servidor. Es idempotente, lo que garantiza que ejecutarlo varias veces produce el mismo resultado que una sola vez.</a:t>
            </a:r>
          </a:p>
          <a:p>
            <a:pPr algn="l">
              <a:lnSpc>
                <a:spcPts val="2822"/>
              </a:lnSpc>
              <a:spcBef>
                <a:spcPct val="0"/>
              </a:spcBef>
            </a:pPr>
            <a:r>
              <a:rPr lang="en-US" sz="2016" strike="noStrike" u="none">
                <a:solidFill>
                  <a:srgbClr val="34495E"/>
                </a:solidFill>
                <a:latin typeface="Mero Thai"/>
                <a:ea typeface="Mero Thai"/>
                <a:cs typeface="Mero Thai"/>
                <a:sym typeface="Mero Thai"/>
              </a:rPr>
              <a:t>Uso: Actualizar un perfil de usuario completo, editar los detalles de un producto.</a:t>
            </a:r>
          </a:p>
          <a:p>
            <a:pPr algn="l" marL="0" indent="0" lvl="0">
              <a:lnSpc>
                <a:spcPts val="2822"/>
              </a:lnSpc>
              <a:spcBef>
                <a:spcPct val="0"/>
              </a:spcBef>
            </a:pPr>
          </a:p>
        </p:txBody>
      </p:sp>
      <p:sp>
        <p:nvSpPr>
          <p:cNvPr name="TextBox 21" id="21"/>
          <p:cNvSpPr txBox="true"/>
          <p:nvPr/>
        </p:nvSpPr>
        <p:spPr>
          <a:xfrm rot="0">
            <a:off x="2842998" y="7118961"/>
            <a:ext cx="6253452" cy="2844387"/>
          </a:xfrm>
          <a:prstGeom prst="rect">
            <a:avLst/>
          </a:prstGeom>
        </p:spPr>
        <p:txBody>
          <a:bodyPr anchor="t" rtlCol="false" tIns="0" lIns="0" bIns="0" rIns="0">
            <a:spAutoFit/>
          </a:bodyPr>
          <a:lstStyle/>
          <a:p>
            <a:pPr algn="l" marL="0" indent="0" lvl="0">
              <a:lnSpc>
                <a:spcPts val="2822"/>
              </a:lnSpc>
              <a:spcBef>
                <a:spcPct val="0"/>
              </a:spcBef>
            </a:pPr>
            <a:r>
              <a:rPr lang="en-US" sz="2016" u="sng">
                <a:solidFill>
                  <a:srgbClr val="34495E"/>
                </a:solidFill>
                <a:latin typeface="Mero Thai"/>
                <a:ea typeface="Mero Thai"/>
                <a:cs typeface="Mero Thai"/>
                <a:sym typeface="Mero Thai"/>
                <a:hlinkClick r:id="rId8" tooltip="https://www.google.com/search?q=POST&amp;sca_esv=90400c0a8b8f484b&amp;biw=1280&amp;bih=889&amp;sxsrf=ANbL-n6QobJvN1cAAhJ0Nv5xIlQmDm_ySw%3A1776815494781&amp;ei=hg3oaam0L_GzqtsP-ovJ4AE&amp;ved=2ahUKEwjmptKDlICUAxUnlmoFHSgaA8MQgK4QegQIAxAF&amp;uact=5&amp;oq=tipos+de+request+y+uso+get+delet+post+y+put&amp;gs_lp=Egxnd3Mtd2l6LXNlcnAiK3RpcG9zIGRlIHJlcXVlc3QgeSB1c28gZ2V0IGRlbGV0IHBvc3QgeSBwdXQyBxAhGAoYoAEyBxAhGAoYoAFIzXlQ7gRY0XdwBXgAkAEAmAHUAaAB7haqAQcxMS4xNC4xuAEDyAEA-AEBmAIeoALUFsICChAAGEcY1gQYsAPCAgUQIRigAcICBRAhGJ8FwgIEECEYFcICBhAhGBUYCpgDAIgGAZAGApIHBzExLjE4LjGgB991sgcGNi4xOC4xuAfBFsIHBzEuMTIuMTfIB2GACAE&amp;sclient=gws-wiz-serp&amp;mstk=AUtExfAjFqSgkSXgnDfX2H4pL4VhmiGNbuNISF_nvm21lwgXUFR7Ffjvgq71LomzogJXVOVBSAYk9guR8_uzSec-cD1u0ubGZ_rJS-2m02YnpqICwDQZSgKwcxG19luzl1pBKwT8hahnUUpQAlOq_0ZFCgEAfTfanaAwI-6ycKdbKT469Cc&amp;csui=3"/>
              </a:rPr>
              <a:t>POST</a:t>
            </a:r>
            <a:r>
              <a:rPr lang="en-US" sz="2016">
                <a:solidFill>
                  <a:srgbClr val="34495E"/>
                </a:solidFill>
                <a:latin typeface="Mero Thai"/>
                <a:ea typeface="Mero Thai"/>
                <a:cs typeface="Mero Thai"/>
                <a:sym typeface="Mero Thai"/>
              </a:rPr>
              <a:t> (C</a:t>
            </a:r>
            <a:r>
              <a:rPr lang="en-US" sz="2016" strike="noStrike" u="none">
                <a:solidFill>
                  <a:srgbClr val="34495E"/>
                </a:solidFill>
                <a:latin typeface="Mero Thai"/>
                <a:ea typeface="Mero Thai"/>
                <a:cs typeface="Mero Thai"/>
                <a:sym typeface="Mero Thai"/>
              </a:rPr>
              <a:t>rear): Se usa para enviar datos al servidor y crear un nuevo recurso. No es idempotente, lo que significa que realizar la misma petición varias veces puede crear recursos duplicados.</a:t>
            </a:r>
          </a:p>
          <a:p>
            <a:pPr algn="l">
              <a:lnSpc>
                <a:spcPts val="2822"/>
              </a:lnSpc>
              <a:spcBef>
                <a:spcPct val="0"/>
              </a:spcBef>
            </a:pPr>
            <a:r>
              <a:rPr lang="en-US" sz="2016" strike="noStrike" u="none">
                <a:solidFill>
                  <a:srgbClr val="34495E"/>
                </a:solidFill>
                <a:latin typeface="Mero Thai"/>
                <a:ea typeface="Mero Thai"/>
                <a:cs typeface="Mero Thai"/>
                <a:sym typeface="Mero Thai"/>
              </a:rPr>
              <a:t>Uso: Enviar un formulario de registro, crear un nuevo mensaje en un foro.</a:t>
            </a:r>
          </a:p>
          <a:p>
            <a:pPr algn="l" marL="0" indent="0" lvl="0">
              <a:lnSpc>
                <a:spcPts val="2822"/>
              </a:lnSpc>
              <a:spcBef>
                <a:spcPct val="0"/>
              </a:spcBef>
            </a:pPr>
          </a:p>
        </p:txBody>
      </p:sp>
      <p:sp>
        <p:nvSpPr>
          <p:cNvPr name="TextBox 22" id="22"/>
          <p:cNvSpPr txBox="true"/>
          <p:nvPr/>
        </p:nvSpPr>
        <p:spPr>
          <a:xfrm rot="0">
            <a:off x="11502456" y="7118961"/>
            <a:ext cx="6167713" cy="1787112"/>
          </a:xfrm>
          <a:prstGeom prst="rect">
            <a:avLst/>
          </a:prstGeom>
        </p:spPr>
        <p:txBody>
          <a:bodyPr anchor="t" rtlCol="false" tIns="0" lIns="0" bIns="0" rIns="0">
            <a:spAutoFit/>
          </a:bodyPr>
          <a:lstStyle/>
          <a:p>
            <a:pPr algn="l" marL="0" indent="0" lvl="0">
              <a:lnSpc>
                <a:spcPts val="2822"/>
              </a:lnSpc>
              <a:spcBef>
                <a:spcPct val="0"/>
              </a:spcBef>
            </a:pPr>
            <a:r>
              <a:rPr lang="en-US" sz="2016" u="sng">
                <a:solidFill>
                  <a:srgbClr val="34495E"/>
                </a:solidFill>
                <a:latin typeface="Mero Thai"/>
                <a:ea typeface="Mero Thai"/>
                <a:cs typeface="Mero Thai"/>
                <a:sym typeface="Mero Thai"/>
                <a:hlinkClick r:id="rId9" tooltip="https://www.google.com/search?q=DELETE&amp;sca_esv=90400c0a8b8f484b&amp;biw=1280&amp;bih=889&amp;sxsrf=ANbL-n6QobJvN1cAAhJ0Nv5xIlQmDm_ySw%3A1776815494781&amp;ei=hg3oaam0L_GzqtsP-ovJ4AE&amp;ved=2ahUKEwjmptKDlICUAxUnlmoFHSgaA8MQgK4QegQIAxAN&amp;uact=5&amp;oq=tipos+de+request+y+uso+get+delet+post+y+put&amp;gs_lp=Egxnd3Mtd2l6LXNlcnAiK3RpcG9zIGRlIHJlcXVlc3QgeSB1c28gZ2V0IGRlbGV0IHBvc3QgeSBwdXQyBxAhGAoYoAEyBxAhGAoYoAFIzXlQ7gRY0XdwBXgAkAEAmAHUAaAB7haqAQcxMS4xNC4xuAEDyAEA-AEBmAIeoALUFsICChAAGEcY1gQYsAPCAgUQIRigAcICBRAhGJ8FwgIEECEYFcICBhAhGBUYCpgDAIgGAZAGApIHBzExLjE4LjGgB991sgcGNi4xOC4xuAfBFsIHBzEuMTIuMTfIB2GACAE&amp;sclient=gws-wiz-serp&amp;mstk=AUtExfAjFqSgkSXgnDfX2H4pL4VhmiGNbuNISF_nvm21lwgXUFR7Ffjvgq71LomzogJXVOVBSAYk9guR8_uzSec-cD1u0ubGZ_rJS-2m02YnpqICwDQZSgKwcxG19luzl1pBKwT8hahnUUpQAlOq_0ZFCgEAfTfanaAwI-6ycKdbKT469Cc&amp;csui=3"/>
              </a:rPr>
              <a:t>DE</a:t>
            </a:r>
            <a:r>
              <a:rPr lang="en-US" sz="2016" strike="noStrike" u="sng">
                <a:solidFill>
                  <a:srgbClr val="34495E"/>
                </a:solidFill>
                <a:latin typeface="Mero Thai"/>
                <a:ea typeface="Mero Thai"/>
                <a:cs typeface="Mero Thai"/>
                <a:sym typeface="Mero Thai"/>
                <a:hlinkClick r:id="rId10" tooltip="https://www.google.com/search?q=DELETE&amp;sca_esv=90400c0a8b8f484b&amp;biw=1280&amp;bih=889&amp;sxsrf=ANbL-n6QobJvN1cAAhJ0Nv5xIlQmDm_ySw%3A1776815494781&amp;ei=hg3oaam0L_GzqtsP-ovJ4AE&amp;ved=2ahUKEwjmptKDlICUAxUnlmoFHSgaA8MQgK4QegQIAxAN&amp;uact=5&amp;oq=tipos+de+request+y+uso+get+delet+post+y+put&amp;gs_lp=Egxnd3Mtd2l6LXNlcnAiK3RpcG9zIGRlIHJlcXVlc3QgeSB1c28gZ2V0IGRlbGV0IHBvc3QgeSBwdXQyBxAhGAoYoAEyBxAhGAoYoAFIzXlQ7gRY0XdwBXgAkAEAmAHUAaAB7haqAQcxMS4xNC4xuAEDyAEA-AEBmAIeoALUFsICChAAGEcY1gQYsAPCAgUQIRigAcICBRAhGJ8FwgIEECEYFcICBhAhGBUYCpgDAIgGAZAGApIHBzExLjE4LjGgB991sgcGNi4xOC4xuAfBFsIHBzEuMTIuMTfIB2GACAE&amp;sclient=gws-wiz-serp&amp;mstk=AUtExfAjFqSgkSXgnDfX2H4pL4VhmiGNbuNISF_nvm21lwgXUFR7Ffjvgq71LomzogJXVOVBSAYk9guR8_uzSec-cD1u0ubGZ_rJS-2m02YnpqICwDQZSgKwcxG19luzl1pBKwT8hahnUUpQAlOq_0ZFCgEAfTfanaAwI-6ycKdbKT469Cc&amp;csui=3"/>
              </a:rPr>
              <a:t>LETE</a:t>
            </a:r>
            <a:r>
              <a:rPr lang="en-US" sz="2016" strike="noStrike" u="none">
                <a:solidFill>
                  <a:srgbClr val="34495E"/>
                </a:solidFill>
                <a:latin typeface="Mero Thai"/>
                <a:ea typeface="Mero Thai"/>
                <a:cs typeface="Mero Thai"/>
                <a:sym typeface="Mero Thai"/>
              </a:rPr>
              <a:t> (Eliminar): Borra un recurso específico del servidor.</a:t>
            </a:r>
          </a:p>
          <a:p>
            <a:pPr algn="l">
              <a:lnSpc>
                <a:spcPts val="2822"/>
              </a:lnSpc>
              <a:spcBef>
                <a:spcPct val="0"/>
              </a:spcBef>
            </a:pPr>
            <a:r>
              <a:rPr lang="en-US" sz="2016" strike="noStrike" u="none">
                <a:solidFill>
                  <a:srgbClr val="34495E"/>
                </a:solidFill>
                <a:latin typeface="Mero Thai"/>
                <a:ea typeface="Mero Thai"/>
                <a:cs typeface="Mero Thai"/>
                <a:sym typeface="Mero Thai"/>
              </a:rPr>
              <a:t>Uso: Eliminar una publicación, dar de baja un usuario.</a:t>
            </a:r>
          </a:p>
          <a:p>
            <a:pPr algn="l" marL="0" indent="0" lvl="0">
              <a:lnSpc>
                <a:spcPts val="2822"/>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1EFFA"/>
        </a:solidFill>
      </p:bgPr>
    </p:bg>
    <p:spTree>
      <p:nvGrpSpPr>
        <p:cNvPr id="1" name=""/>
        <p:cNvGrpSpPr/>
        <p:nvPr/>
      </p:nvGrpSpPr>
      <p:grpSpPr>
        <a:xfrm>
          <a:off x="0" y="0"/>
          <a:ext cx="0" cy="0"/>
          <a:chOff x="0" y="0"/>
          <a:chExt cx="0" cy="0"/>
        </a:xfrm>
      </p:grpSpPr>
      <p:sp>
        <p:nvSpPr>
          <p:cNvPr name="Freeform 2" id="2"/>
          <p:cNvSpPr/>
          <p:nvPr/>
        </p:nvSpPr>
        <p:spPr>
          <a:xfrm flipH="false" flipV="false" rot="0">
            <a:off x="12025853" y="4871720"/>
            <a:ext cx="5233447" cy="4386580"/>
          </a:xfrm>
          <a:custGeom>
            <a:avLst/>
            <a:gdLst/>
            <a:ahLst/>
            <a:cxnLst/>
            <a:rect r="r" b="b" t="t" l="l"/>
            <a:pathLst>
              <a:path h="4386580" w="5233447">
                <a:moveTo>
                  <a:pt x="0" y="0"/>
                </a:moveTo>
                <a:lnTo>
                  <a:pt x="5233447" y="0"/>
                </a:lnTo>
                <a:lnTo>
                  <a:pt x="5233447" y="4386580"/>
                </a:lnTo>
                <a:lnTo>
                  <a:pt x="0" y="43865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028700" y="1027841"/>
            <a:ext cx="2002153" cy="2591021"/>
          </a:xfrm>
          <a:custGeom>
            <a:avLst/>
            <a:gdLst/>
            <a:ahLst/>
            <a:cxnLst/>
            <a:rect r="r" b="b" t="t" l="l"/>
            <a:pathLst>
              <a:path h="2591021" w="2002153">
                <a:moveTo>
                  <a:pt x="0" y="0"/>
                </a:moveTo>
                <a:lnTo>
                  <a:pt x="2002153" y="0"/>
                </a:lnTo>
                <a:lnTo>
                  <a:pt x="2002153" y="2591021"/>
                </a:lnTo>
                <a:lnTo>
                  <a:pt x="0" y="25910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grpSp>
        <p:nvGrpSpPr>
          <p:cNvPr name="Group 4" id="4"/>
          <p:cNvGrpSpPr/>
          <p:nvPr/>
        </p:nvGrpSpPr>
        <p:grpSpPr>
          <a:xfrm rot="0">
            <a:off x="3913809" y="1027841"/>
            <a:ext cx="13345491" cy="2196852"/>
            <a:chOff x="0" y="0"/>
            <a:chExt cx="17793988" cy="2929136"/>
          </a:xfrm>
        </p:grpSpPr>
        <p:sp>
          <p:nvSpPr>
            <p:cNvPr name="TextBox 5" id="5"/>
            <p:cNvSpPr txBox="true"/>
            <p:nvPr/>
          </p:nvSpPr>
          <p:spPr>
            <a:xfrm rot="0">
              <a:off x="0" y="-133350"/>
              <a:ext cx="17793988" cy="1525615"/>
            </a:xfrm>
            <a:prstGeom prst="rect">
              <a:avLst/>
            </a:prstGeom>
          </p:spPr>
          <p:txBody>
            <a:bodyPr anchor="t" rtlCol="false" tIns="0" lIns="0" bIns="0" rIns="0">
              <a:spAutoFit/>
            </a:bodyPr>
            <a:lstStyle/>
            <a:p>
              <a:pPr algn="l">
                <a:lnSpc>
                  <a:spcPts val="9645"/>
                </a:lnSpc>
              </a:pPr>
              <a:r>
                <a:rPr lang="en-US" sz="6889">
                  <a:solidFill>
                    <a:srgbClr val="34495E"/>
                  </a:solidFill>
                  <a:latin typeface="Intro Rust"/>
                  <a:ea typeface="Intro Rust"/>
                  <a:cs typeface="Intro Rust"/>
                  <a:sym typeface="Intro Rust"/>
                </a:rPr>
                <a:t>¿Que es swagger?</a:t>
              </a:r>
            </a:p>
          </p:txBody>
        </p:sp>
        <p:sp>
          <p:nvSpPr>
            <p:cNvPr name="TextBox 6" id="6"/>
            <p:cNvSpPr txBox="true"/>
            <p:nvPr/>
          </p:nvSpPr>
          <p:spPr>
            <a:xfrm rot="0">
              <a:off x="0" y="1356324"/>
              <a:ext cx="17793988" cy="1572812"/>
            </a:xfrm>
            <a:prstGeom prst="rect">
              <a:avLst/>
            </a:prstGeom>
          </p:spPr>
          <p:txBody>
            <a:bodyPr anchor="t" rtlCol="false" tIns="0" lIns="0" bIns="0" rIns="0">
              <a:spAutoFit/>
            </a:bodyPr>
            <a:lstStyle/>
            <a:p>
              <a:pPr algn="l">
                <a:lnSpc>
                  <a:spcPts val="9007"/>
                </a:lnSpc>
              </a:pPr>
              <a:r>
                <a:rPr lang="en-US" sz="6433">
                  <a:solidFill>
                    <a:srgbClr val="5A99D1"/>
                  </a:solidFill>
                  <a:latin typeface="Mero Thai"/>
                  <a:ea typeface="Mero Thai"/>
                  <a:cs typeface="Mero Thai"/>
                  <a:sym typeface="Mero Thai"/>
                </a:rPr>
                <a:t>-Swagger-</a:t>
              </a:r>
            </a:p>
          </p:txBody>
        </p:sp>
      </p:grpSp>
      <p:grpSp>
        <p:nvGrpSpPr>
          <p:cNvPr name="Group 7" id="7"/>
          <p:cNvGrpSpPr/>
          <p:nvPr/>
        </p:nvGrpSpPr>
        <p:grpSpPr>
          <a:xfrm rot="0">
            <a:off x="1028700" y="4059474"/>
            <a:ext cx="5010325" cy="5198826"/>
            <a:chOff x="0" y="0"/>
            <a:chExt cx="6680433" cy="6931768"/>
          </a:xfrm>
        </p:grpSpPr>
        <p:sp>
          <p:nvSpPr>
            <p:cNvPr name="TextBox 8" id="8"/>
            <p:cNvSpPr txBox="true"/>
            <p:nvPr/>
          </p:nvSpPr>
          <p:spPr>
            <a:xfrm rot="0">
              <a:off x="0" y="1079184"/>
              <a:ext cx="6680433" cy="5852584"/>
            </a:xfrm>
            <a:prstGeom prst="rect">
              <a:avLst/>
            </a:prstGeom>
          </p:spPr>
          <p:txBody>
            <a:bodyPr anchor="t" rtlCol="false" tIns="0" lIns="0" bIns="0" rIns="0">
              <a:spAutoFit/>
            </a:bodyPr>
            <a:lstStyle/>
            <a:p>
              <a:pPr algn="l">
                <a:lnSpc>
                  <a:spcPts val="3499"/>
                </a:lnSpc>
              </a:pPr>
              <a:r>
                <a:rPr lang="en-US" sz="2499">
                  <a:solidFill>
                    <a:srgbClr val="34495E"/>
                  </a:solidFill>
                  <a:latin typeface="Mero Thai"/>
                  <a:ea typeface="Mero Thai"/>
                  <a:cs typeface="Mero Thai"/>
                  <a:sym typeface="Mero Thai"/>
                </a:rPr>
                <a:t>Swagger es un conjunto de herramientas de código abierto basado en la especificación OpenAPI que permite diseñar, construir, documentar y consumir APIs RESTful de manera fácil y estandarizada. Simplifica desarrollo y las pruebas de servicios web.</a:t>
              </a:r>
            </a:p>
          </p:txBody>
        </p:sp>
        <p:sp>
          <p:nvSpPr>
            <p:cNvPr name="TextBox 9" id="9"/>
            <p:cNvSpPr txBox="true"/>
            <p:nvPr/>
          </p:nvSpPr>
          <p:spPr>
            <a:xfrm rot="0">
              <a:off x="0" y="-142875"/>
              <a:ext cx="6680433" cy="871854"/>
            </a:xfrm>
            <a:prstGeom prst="rect">
              <a:avLst/>
            </a:prstGeom>
          </p:spPr>
          <p:txBody>
            <a:bodyPr anchor="t" rtlCol="false" tIns="0" lIns="0" bIns="0" rIns="0">
              <a:spAutoFit/>
            </a:bodyPr>
            <a:lstStyle/>
            <a:p>
              <a:pPr algn="l">
                <a:lnSpc>
                  <a:spcPts val="5040"/>
                </a:lnSpc>
              </a:pPr>
              <a:r>
                <a:rPr lang="en-US" sz="3600">
                  <a:solidFill>
                    <a:srgbClr val="5A99D1"/>
                  </a:solidFill>
                  <a:latin typeface="Mero Thai"/>
                  <a:ea typeface="Mero Thai"/>
                  <a:cs typeface="Mero Thai"/>
                  <a:sym typeface="Mero Thai"/>
                </a:rPr>
                <a:t>QUE ES:</a:t>
              </a:r>
            </a:p>
          </p:txBody>
        </p:sp>
      </p:grpSp>
      <p:grpSp>
        <p:nvGrpSpPr>
          <p:cNvPr name="Group 10" id="10"/>
          <p:cNvGrpSpPr/>
          <p:nvPr/>
        </p:nvGrpSpPr>
        <p:grpSpPr>
          <a:xfrm rot="0">
            <a:off x="6638838" y="4497624"/>
            <a:ext cx="5010325" cy="3884376"/>
            <a:chOff x="0" y="0"/>
            <a:chExt cx="6680433" cy="5179168"/>
          </a:xfrm>
        </p:grpSpPr>
        <p:sp>
          <p:nvSpPr>
            <p:cNvPr name="TextBox 11" id="11"/>
            <p:cNvSpPr txBox="true"/>
            <p:nvPr/>
          </p:nvSpPr>
          <p:spPr>
            <a:xfrm rot="0">
              <a:off x="0" y="1079184"/>
              <a:ext cx="6680433" cy="4099984"/>
            </a:xfrm>
            <a:prstGeom prst="rect">
              <a:avLst/>
            </a:prstGeom>
          </p:spPr>
          <p:txBody>
            <a:bodyPr anchor="t" rtlCol="false" tIns="0" lIns="0" bIns="0" rIns="0">
              <a:spAutoFit/>
            </a:bodyPr>
            <a:lstStyle/>
            <a:p>
              <a:pPr algn="l">
                <a:lnSpc>
                  <a:spcPts val="3499"/>
                </a:lnSpc>
              </a:pPr>
              <a:r>
                <a:rPr lang="en-US" sz="2499">
                  <a:solidFill>
                    <a:srgbClr val="34495E"/>
                  </a:solidFill>
                  <a:latin typeface="Mero Thai"/>
                  <a:ea typeface="Mero Thai"/>
                  <a:cs typeface="Mero Thai"/>
                  <a:sym typeface="Mero Thai"/>
                </a:rPr>
                <a:t>Swagger es fundamental para la documentación de proyectos, facilitando el trabajo al mostrar la estructura y organización de las API, lo que evita pruebas improductivas. </a:t>
              </a:r>
            </a:p>
          </p:txBody>
        </p:sp>
        <p:sp>
          <p:nvSpPr>
            <p:cNvPr name="TextBox 12" id="12"/>
            <p:cNvSpPr txBox="true"/>
            <p:nvPr/>
          </p:nvSpPr>
          <p:spPr>
            <a:xfrm rot="0">
              <a:off x="0" y="-142875"/>
              <a:ext cx="6680433" cy="871854"/>
            </a:xfrm>
            <a:prstGeom prst="rect">
              <a:avLst/>
            </a:prstGeom>
          </p:spPr>
          <p:txBody>
            <a:bodyPr anchor="t" rtlCol="false" tIns="0" lIns="0" bIns="0" rIns="0">
              <a:spAutoFit/>
            </a:bodyPr>
            <a:lstStyle/>
            <a:p>
              <a:pPr algn="l">
                <a:lnSpc>
                  <a:spcPts val="5040"/>
                </a:lnSpc>
              </a:pPr>
              <a:r>
                <a:rPr lang="en-US" sz="3600">
                  <a:solidFill>
                    <a:srgbClr val="5A99D1"/>
                  </a:solidFill>
                  <a:latin typeface="Mero Thai"/>
                  <a:ea typeface="Mero Thai"/>
                  <a:cs typeface="Mero Thai"/>
                  <a:sym typeface="Mero Thai"/>
                </a:rPr>
                <a:t>SWAGGER</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353860" y="297"/>
            <a:ext cx="6934140" cy="10287000"/>
          </a:xfrm>
          <a:custGeom>
            <a:avLst/>
            <a:gdLst/>
            <a:ahLst/>
            <a:cxnLst/>
            <a:rect r="r" b="b" t="t" l="l"/>
            <a:pathLst>
              <a:path h="10287000" w="6934140">
                <a:moveTo>
                  <a:pt x="0" y="0"/>
                </a:moveTo>
                <a:lnTo>
                  <a:pt x="6934140" y="0"/>
                </a:lnTo>
                <a:lnTo>
                  <a:pt x="6934140" y="10287000"/>
                </a:lnTo>
                <a:lnTo>
                  <a:pt x="0" y="10287000"/>
                </a:lnTo>
                <a:lnTo>
                  <a:pt x="0" y="0"/>
                </a:lnTo>
                <a:close/>
              </a:path>
            </a:pathLst>
          </a:custGeom>
          <a:blipFill>
            <a:blip r:embed="rId2"/>
            <a:stretch>
              <a:fillRect l="-61264" t="0" r="-61264" b="0"/>
            </a:stretch>
          </a:blipFill>
        </p:spPr>
      </p:sp>
      <p:sp>
        <p:nvSpPr>
          <p:cNvPr name="Freeform 3" id="3"/>
          <p:cNvSpPr/>
          <p:nvPr/>
        </p:nvSpPr>
        <p:spPr>
          <a:xfrm flipH="false" flipV="false" rot="0">
            <a:off x="1028700" y="6852844"/>
            <a:ext cx="2336602" cy="2406613"/>
          </a:xfrm>
          <a:custGeom>
            <a:avLst/>
            <a:gdLst/>
            <a:ahLst/>
            <a:cxnLst/>
            <a:rect r="r" b="b" t="t" l="l"/>
            <a:pathLst>
              <a:path h="2406613" w="2336602">
                <a:moveTo>
                  <a:pt x="0" y="0"/>
                </a:moveTo>
                <a:lnTo>
                  <a:pt x="2336602" y="0"/>
                </a:lnTo>
                <a:lnTo>
                  <a:pt x="2336602" y="2406613"/>
                </a:lnTo>
                <a:lnTo>
                  <a:pt x="0" y="240661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4" id="4"/>
          <p:cNvGrpSpPr/>
          <p:nvPr/>
        </p:nvGrpSpPr>
        <p:grpSpPr>
          <a:xfrm rot="0">
            <a:off x="1028700" y="1028700"/>
            <a:ext cx="9490796" cy="1770004"/>
            <a:chOff x="0" y="0"/>
            <a:chExt cx="12654395" cy="2360005"/>
          </a:xfrm>
        </p:grpSpPr>
        <p:sp>
          <p:nvSpPr>
            <p:cNvPr name="TextBox 5" id="5"/>
            <p:cNvSpPr txBox="true"/>
            <p:nvPr/>
          </p:nvSpPr>
          <p:spPr>
            <a:xfrm rot="0">
              <a:off x="0" y="834390"/>
              <a:ext cx="12654395" cy="1525615"/>
            </a:xfrm>
            <a:prstGeom prst="rect">
              <a:avLst/>
            </a:prstGeom>
          </p:spPr>
          <p:txBody>
            <a:bodyPr anchor="t" rtlCol="false" tIns="0" lIns="0" bIns="0" rIns="0">
              <a:spAutoFit/>
            </a:bodyPr>
            <a:lstStyle/>
            <a:p>
              <a:pPr algn="r">
                <a:lnSpc>
                  <a:spcPts val="9645"/>
                </a:lnSpc>
              </a:pPr>
              <a:r>
                <a:rPr lang="en-US" sz="6889">
                  <a:solidFill>
                    <a:srgbClr val="34495E"/>
                  </a:solidFill>
                  <a:latin typeface="Intro Rust"/>
                  <a:ea typeface="Intro Rust"/>
                  <a:cs typeface="Intro Rust"/>
                  <a:sym typeface="Intro Rust"/>
                </a:rPr>
                <a:t>con swagger</a:t>
              </a:r>
            </a:p>
          </p:txBody>
        </p:sp>
        <p:sp>
          <p:nvSpPr>
            <p:cNvPr name="TextBox 6" id="6"/>
            <p:cNvSpPr txBox="true"/>
            <p:nvPr/>
          </p:nvSpPr>
          <p:spPr>
            <a:xfrm rot="0">
              <a:off x="0" y="-190500"/>
              <a:ext cx="12654395" cy="1158240"/>
            </a:xfrm>
            <a:prstGeom prst="rect">
              <a:avLst/>
            </a:prstGeom>
          </p:spPr>
          <p:txBody>
            <a:bodyPr anchor="t" rtlCol="false" tIns="0" lIns="0" bIns="0" rIns="0">
              <a:spAutoFit/>
            </a:bodyPr>
            <a:lstStyle/>
            <a:p>
              <a:pPr algn="r" marL="0" indent="0" lvl="0">
                <a:lnSpc>
                  <a:spcPts val="6719"/>
                </a:lnSpc>
                <a:spcBef>
                  <a:spcPct val="0"/>
                </a:spcBef>
              </a:pPr>
              <a:r>
                <a:rPr lang="en-US" sz="4800">
                  <a:solidFill>
                    <a:srgbClr val="5A99D1"/>
                  </a:solidFill>
                  <a:latin typeface="Mero Thai"/>
                  <a:ea typeface="Mero Thai"/>
                  <a:cs typeface="Mero Thai"/>
                  <a:sym typeface="Mero Thai"/>
                </a:rPr>
                <a:t>Como crear un Rest Api</a:t>
              </a:r>
            </a:p>
          </p:txBody>
        </p:sp>
      </p:grpSp>
      <p:sp>
        <p:nvSpPr>
          <p:cNvPr name="TextBox 7" id="7"/>
          <p:cNvSpPr txBox="true"/>
          <p:nvPr/>
        </p:nvSpPr>
        <p:spPr>
          <a:xfrm rot="0">
            <a:off x="4128060" y="3203174"/>
            <a:ext cx="6389518" cy="6501395"/>
          </a:xfrm>
          <a:prstGeom prst="rect">
            <a:avLst/>
          </a:prstGeom>
        </p:spPr>
        <p:txBody>
          <a:bodyPr anchor="t" rtlCol="false" tIns="0" lIns="0" bIns="0" rIns="0">
            <a:spAutoFit/>
          </a:bodyPr>
          <a:lstStyle/>
          <a:p>
            <a:pPr algn="ctr" marL="0" indent="0" lvl="0">
              <a:lnSpc>
                <a:spcPts val="3905"/>
              </a:lnSpc>
              <a:spcBef>
                <a:spcPct val="0"/>
              </a:spcBef>
            </a:pPr>
            <a:r>
              <a:rPr lang="en-US" sz="2789">
                <a:solidFill>
                  <a:srgbClr val="34495E"/>
                </a:solidFill>
                <a:latin typeface="Mero Thai"/>
                <a:ea typeface="Mero Thai"/>
                <a:cs typeface="Mero Thai"/>
                <a:sym typeface="Mero Thai"/>
              </a:rPr>
              <a:t>Crea</a:t>
            </a:r>
            <a:r>
              <a:rPr lang="en-US" sz="2789" strike="noStrike" u="none">
                <a:solidFill>
                  <a:srgbClr val="34495E"/>
                </a:solidFill>
                <a:latin typeface="Mero Thai"/>
                <a:ea typeface="Mero Thai"/>
                <a:cs typeface="Mero Thai"/>
                <a:sym typeface="Mero Thai"/>
              </a:rPr>
              <a:t>r una REST API con Swagger (OpenAPI) implica definir la estructura de la API en un archivo YAML/JSON y generar documentación interactiva para probarla. Se puede hacer diseñando primero (</a:t>
            </a:r>
            <a:r>
              <a:rPr lang="en-US" sz="2789" strike="noStrike" u="sng">
                <a:solidFill>
                  <a:srgbClr val="34495E"/>
                </a:solidFill>
                <a:latin typeface="Mero Thai"/>
                <a:ea typeface="Mero Thai"/>
                <a:cs typeface="Mero Thai"/>
                <a:sym typeface="Mero Thai"/>
                <a:hlinkClick r:id="rId5" tooltip="https://www.google.com/search?q=Swagger+Editor&amp;sca_esv=90400c0a8b8f484b&amp;biw=1280&amp;bih=889&amp;sxsrf=ANbL-n4vlejJW75fsb2ySquYdB85UqYgDQ%3A1776816682573&amp;ei=KhLoacvbItSnmtkPpY-bwQs&amp;oq=como+crear+un+rest+api+con+sw&amp;gs_lp=Egxnd3Mtd2l6LXNlcnAiHWNvbW8gY3JlYXIgdW4gcmVzdCBhcGkgY29uIHN3KgIIADIFECEYoAEyBRAhGJ8FMgUQIRifBTIFECEYnwUyBRAhGJ8FMgUQIRifBUjeTlDPBFj7QHADeAGQAQCYAW6gAZwTqgEEMjkuMrgBAcgBAPgBAZgCIqACuxWoAgrCAhYQABiABBiKBRhDGOcGGOoCGLQC2AEBwgIcEC4YgAQYigUYQxjnBhjHARjRAxjqAhi0AtgBAcICEBAuGAMYjwEY6gIYtALYAQHCAhAQABgDGI8BGOoCGLQC2AEBwgINEAAYgAQYigUYQxixA8ICFhAuGIAEGIoFGEMYsQMYgwEYxwEY0QPCAgsQABiABBixAxiDAcICCBAAGIAEGLEDwgIFEAAYgATCAg4QABiABBiKBRixAxiDAcICCxAAGIAEGIoFGLEDwgIOEC4YgAQYsQMYxwEY0QPCAgoQABiABBiKBRhDwgIFEC4YgATCAgkQABiABBgKGAvCAgYQABgWGB7CAggQABiABBiiBMICBRAAGO8FwgIIEAAYiQUYogSYAwXxBZKDhq0wUaLcugYECAEYB5IHBDI4LjagB-vNAbIHBDI1Lja4B6gVwgcJMC41LjEzLjE2yAfpAYAIAQ&amp;sclient=gws-wiz-serp&amp;mstk=AUtExfD6zXn_lrAvusASUgWhtMO2quJutBWnkEPHpRTa7fHNx7bSIFFpFMGSVpmH6SHGRcl25scrB4tn_5LIGSmtvi2uBTaAIMUdxxPTnqpN5NCFfQhUokMSTRapZAozsK2eIbAwQHCfbCRkQIHpqUdjVfqkplatcfhalFbqzLZ1hPzyYeZn98UZGjb6FJKgZoDW65E8&amp;csui=3&amp;ved=2ahUKEwi55K3SloCUAxVJnCYFHerqNSIQgK4QegQIARAC"/>
              </a:rPr>
              <a:t>Swagger Editor</a:t>
            </a:r>
            <a:r>
              <a:rPr lang="en-US" sz="2789" strike="noStrike" u="none">
                <a:solidFill>
                  <a:srgbClr val="34495E"/>
                </a:solidFill>
                <a:latin typeface="Mero Thai"/>
                <a:ea typeface="Mero Thai"/>
                <a:cs typeface="Mero Thai"/>
                <a:sym typeface="Mero Thai"/>
              </a:rPr>
              <a:t>) o generando documentación automáticamente desde el código (Node.js/Spring Boot) usando comentarios o anotaciones para describir verbos HTTP, parámetros y respuestas. </a:t>
            </a:r>
          </a:p>
        </p:txBody>
      </p:sp>
      <p:sp>
        <p:nvSpPr>
          <p:cNvPr name="Freeform 8" id="8"/>
          <p:cNvSpPr/>
          <p:nvPr/>
        </p:nvSpPr>
        <p:spPr>
          <a:xfrm flipH="false" flipV="false" rot="0">
            <a:off x="955176" y="2736887"/>
            <a:ext cx="2336602" cy="2406613"/>
          </a:xfrm>
          <a:custGeom>
            <a:avLst/>
            <a:gdLst/>
            <a:ahLst/>
            <a:cxnLst/>
            <a:rect r="r" b="b" t="t" l="l"/>
            <a:pathLst>
              <a:path h="2406613" w="2336602">
                <a:moveTo>
                  <a:pt x="0" y="0"/>
                </a:moveTo>
                <a:lnTo>
                  <a:pt x="2336602" y="0"/>
                </a:lnTo>
                <a:lnTo>
                  <a:pt x="2336602" y="2406613"/>
                </a:lnTo>
                <a:lnTo>
                  <a:pt x="0" y="24066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1EFFA"/>
        </a:solidFill>
      </p:bgPr>
    </p:bg>
    <p:spTree>
      <p:nvGrpSpPr>
        <p:cNvPr id="1" name=""/>
        <p:cNvGrpSpPr/>
        <p:nvPr/>
      </p:nvGrpSpPr>
      <p:grpSpPr>
        <a:xfrm>
          <a:off x="0" y="0"/>
          <a:ext cx="0" cy="0"/>
          <a:chOff x="0" y="0"/>
          <a:chExt cx="0" cy="0"/>
        </a:xfrm>
      </p:grpSpPr>
      <p:grpSp>
        <p:nvGrpSpPr>
          <p:cNvPr name="Group 2" id="2"/>
          <p:cNvGrpSpPr/>
          <p:nvPr/>
        </p:nvGrpSpPr>
        <p:grpSpPr>
          <a:xfrm rot="0">
            <a:off x="8360939" y="929786"/>
            <a:ext cx="8257191" cy="8229625"/>
            <a:chOff x="0" y="0"/>
            <a:chExt cx="1279255" cy="1274984"/>
          </a:xfrm>
        </p:grpSpPr>
        <p:sp>
          <p:nvSpPr>
            <p:cNvPr name="Freeform 3" id="3"/>
            <p:cNvSpPr/>
            <p:nvPr/>
          </p:nvSpPr>
          <p:spPr>
            <a:xfrm flipH="false" flipV="false" rot="0">
              <a:off x="0" y="0"/>
              <a:ext cx="1279255" cy="1274984"/>
            </a:xfrm>
            <a:custGeom>
              <a:avLst/>
              <a:gdLst/>
              <a:ahLst/>
              <a:cxnLst/>
              <a:rect r="r" b="b" t="t" l="l"/>
              <a:pathLst>
                <a:path h="1274984" w="1279255">
                  <a:moveTo>
                    <a:pt x="21565" y="0"/>
                  </a:moveTo>
                  <a:lnTo>
                    <a:pt x="1257690" y="0"/>
                  </a:lnTo>
                  <a:cubicBezTo>
                    <a:pt x="1263409" y="0"/>
                    <a:pt x="1268895" y="2272"/>
                    <a:pt x="1272939" y="6316"/>
                  </a:cubicBezTo>
                  <a:cubicBezTo>
                    <a:pt x="1276983" y="10360"/>
                    <a:pt x="1279255" y="15845"/>
                    <a:pt x="1279255" y="21565"/>
                  </a:cubicBezTo>
                  <a:lnTo>
                    <a:pt x="1279255" y="1253420"/>
                  </a:lnTo>
                  <a:cubicBezTo>
                    <a:pt x="1279255" y="1265329"/>
                    <a:pt x="1269600" y="1274984"/>
                    <a:pt x="1257690" y="1274984"/>
                  </a:cubicBezTo>
                  <a:lnTo>
                    <a:pt x="21565" y="1274984"/>
                  </a:lnTo>
                  <a:cubicBezTo>
                    <a:pt x="15845" y="1274984"/>
                    <a:pt x="10360" y="1272712"/>
                    <a:pt x="6316" y="1268668"/>
                  </a:cubicBezTo>
                  <a:cubicBezTo>
                    <a:pt x="2272" y="1264624"/>
                    <a:pt x="0" y="1259139"/>
                    <a:pt x="0" y="1253420"/>
                  </a:cubicBezTo>
                  <a:lnTo>
                    <a:pt x="0" y="21565"/>
                  </a:lnTo>
                  <a:cubicBezTo>
                    <a:pt x="0" y="15845"/>
                    <a:pt x="2272" y="10360"/>
                    <a:pt x="6316" y="6316"/>
                  </a:cubicBezTo>
                  <a:cubicBezTo>
                    <a:pt x="10360" y="2272"/>
                    <a:pt x="15845" y="0"/>
                    <a:pt x="21565" y="0"/>
                  </a:cubicBezTo>
                  <a:close/>
                </a:path>
              </a:pathLst>
            </a:custGeom>
            <a:blipFill>
              <a:blip r:embed="rId2"/>
              <a:stretch>
                <a:fillRect l="-24749" t="0" r="-24749" b="0"/>
              </a:stretch>
            </a:blipFill>
          </p:spPr>
        </p:sp>
      </p:grpSp>
      <p:sp>
        <p:nvSpPr>
          <p:cNvPr name="Freeform 4" id="4"/>
          <p:cNvSpPr/>
          <p:nvPr/>
        </p:nvSpPr>
        <p:spPr>
          <a:xfrm flipH="false" flipV="false" rot="0">
            <a:off x="3070801" y="7562183"/>
            <a:ext cx="1885572" cy="2235053"/>
          </a:xfrm>
          <a:custGeom>
            <a:avLst/>
            <a:gdLst/>
            <a:ahLst/>
            <a:cxnLst/>
            <a:rect r="r" b="b" t="t" l="l"/>
            <a:pathLst>
              <a:path h="2235053" w="1885572">
                <a:moveTo>
                  <a:pt x="0" y="0"/>
                </a:moveTo>
                <a:lnTo>
                  <a:pt x="1885572" y="0"/>
                </a:lnTo>
                <a:lnTo>
                  <a:pt x="1885572" y="2235053"/>
                </a:lnTo>
                <a:lnTo>
                  <a:pt x="0" y="22350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028700" y="3271950"/>
            <a:ext cx="5969773" cy="3975100"/>
          </a:xfrm>
          <a:prstGeom prst="rect">
            <a:avLst/>
          </a:prstGeom>
        </p:spPr>
        <p:txBody>
          <a:bodyPr anchor="t" rtlCol="false" tIns="0" lIns="0" bIns="0" rIns="0">
            <a:spAutoFit/>
          </a:bodyPr>
          <a:lstStyle/>
          <a:p>
            <a:pPr algn="l" marL="0" indent="0" lvl="0">
              <a:lnSpc>
                <a:spcPts val="3499"/>
              </a:lnSpc>
              <a:spcBef>
                <a:spcPct val="0"/>
              </a:spcBef>
            </a:pPr>
            <a:r>
              <a:rPr lang="en-US" sz="2499">
                <a:solidFill>
                  <a:srgbClr val="34495E"/>
                </a:solidFill>
                <a:latin typeface="Mero Thai"/>
                <a:ea typeface="Mero Thai"/>
                <a:cs typeface="Mero Thai"/>
                <a:sym typeface="Mero Thai"/>
              </a:rPr>
              <a:t>Para int</a:t>
            </a:r>
            <a:r>
              <a:rPr lang="en-US" sz="2499" strike="noStrike" u="none">
                <a:solidFill>
                  <a:srgbClr val="34495E"/>
                </a:solidFill>
                <a:latin typeface="Mero Thai"/>
                <a:ea typeface="Mero Thai"/>
                <a:cs typeface="Mero Thai"/>
                <a:sym typeface="Mero Thai"/>
              </a:rPr>
              <a:t>egrar Swagger con Flask y generar documentación interactiva, la forma más sencilla es utilizar </a:t>
            </a:r>
            <a:r>
              <a:rPr lang="en-US" sz="2499" strike="noStrike" u="sng">
                <a:solidFill>
                  <a:srgbClr val="34495E"/>
                </a:solidFill>
                <a:latin typeface="Mero Thai"/>
                <a:ea typeface="Mero Thai"/>
                <a:cs typeface="Mero Thai"/>
                <a:sym typeface="Mero Thai"/>
                <a:hlinkClick r:id="rId5" tooltip="https://www.google.com/search?q=Flasgger&amp;biw=1280&amp;bih=889&amp;sca_esv=90400c0a8b8f484b&amp;sxsrf=ANbL-n6hFLX899LmpY7al1_XLcd5Q7sjzA%3A1776816868033&amp;ei=5BLoaffcAYG2qtsPneDE0Qw&amp;ved=2ahUKEwju_sr5loCUAxU9nGoFHVyxCUIQgK4QegQIARAC&amp;uact=5&amp;oq=como+utilizar+swagger+con+flask&amp;gs_lp=Egxnd3Mtd2l6LXNlcnAiH2NvbW8gdXRpbGl6YXIgc3dhZ2dlciBjb24gZmxhc2syBRAhGKABMgUQIRigATIFECEYoAEyBRAhGJ8FMgUQIRifBTIFECEYnwVIu0pQzQxY7ENwAngBkAEAmAFnoAHvEaoBBDMwLjG4AQPIAQD4AQGYAiGgAukSqAIKwgIKEAAYRxjWBBiwA8ICEBAAGAMYjwEY6gIYtALYAQHCAhAQLhgDGI8BGOoCGLQC2AEBwgINEAAYgAQYigUYQxixA8ICChAAGIAEGIoFGEPCAhEQLhiABBixAxiDARjHARjRA8ICCBAAGIAEGLEDwgILEAAYgAQYsQMYgwHCAggQLhixAxiABMICDhAuGIAEGLEDGMcBGNEDwgIQEAAYgAQYigUYQxixAxiDAcICBRAAGIAEwgIIEAAYgAQYyQPCAgsQABiABBiKBRixA8ICCxAAGIAEGIoFGJIDwgIFEC4YgATCAgsQLhiABBixAxiDAcICBBAAGAPCAgYQABgWGB7CAggQABiABBiiBMICCBAAGIkFGKIEwgIFEAAY7wWYAwXxBYzXe_gaGhQ_iAYBkAYCugYECAEYCpIHBDMyLjGgB7zFAbIHBDMwLjG4B-ESwgcHMC4yMS4xMsgHWIAIAQ&amp;sclient=gws-wiz-serp&amp;mstk=AUtExfDYL5S4hjGN9o_ltJLDsl5IKU9zBKdVcG6QgYd8p1Oog3izYDeV-V5HxN-8Q7hrq9f6k5d0ermE9IfKAVaxuHCyhvZ3DXy6jN32aKgNFJZt5RCYEn7csLlc6XUEFky6Wv2Nd9murm2nT73kUaNgRKE_DW_xIgp5g1t_N49n0HaUiblvsAAaR-1sksSWjQHLpZ_R&amp;csui=3"/>
              </a:rPr>
              <a:t>Flasgger</a:t>
            </a:r>
            <a:r>
              <a:rPr lang="en-US" sz="2499" strike="noStrike" u="none">
                <a:solidFill>
                  <a:srgbClr val="34495E"/>
                </a:solidFill>
                <a:latin typeface="Mero Thai"/>
                <a:ea typeface="Mero Thai"/>
                <a:cs typeface="Mero Thai"/>
                <a:sym typeface="Mero Thai"/>
              </a:rPr>
              <a:t>, una biblioteca que integra Swagger UI con Flask. Permite documentar rutas mediante docstrings (comentarios) o archivos YAML y acceder a la interfaz en /apidocs.</a:t>
            </a:r>
          </a:p>
        </p:txBody>
      </p:sp>
      <p:grpSp>
        <p:nvGrpSpPr>
          <p:cNvPr name="Group 6" id="6"/>
          <p:cNvGrpSpPr/>
          <p:nvPr/>
        </p:nvGrpSpPr>
        <p:grpSpPr>
          <a:xfrm rot="0">
            <a:off x="0" y="1144100"/>
            <a:ext cx="10744874" cy="1591594"/>
            <a:chOff x="0" y="0"/>
            <a:chExt cx="14326499" cy="2122125"/>
          </a:xfrm>
        </p:grpSpPr>
        <p:sp>
          <p:nvSpPr>
            <p:cNvPr name="TextBox 7" id="7"/>
            <p:cNvSpPr txBox="true"/>
            <p:nvPr/>
          </p:nvSpPr>
          <p:spPr>
            <a:xfrm rot="0">
              <a:off x="0" y="-104775"/>
              <a:ext cx="13864900" cy="1072858"/>
            </a:xfrm>
            <a:prstGeom prst="rect">
              <a:avLst/>
            </a:prstGeom>
          </p:spPr>
          <p:txBody>
            <a:bodyPr anchor="t" rtlCol="false" tIns="0" lIns="0" bIns="0" rIns="0">
              <a:spAutoFit/>
            </a:bodyPr>
            <a:lstStyle/>
            <a:p>
              <a:pPr algn="l">
                <a:lnSpc>
                  <a:spcPts val="6705"/>
                </a:lnSpc>
              </a:pPr>
              <a:r>
                <a:rPr lang="en-US" sz="4789">
                  <a:solidFill>
                    <a:srgbClr val="34495E"/>
                  </a:solidFill>
                  <a:latin typeface="Intro Rust"/>
                  <a:ea typeface="Intro Rust"/>
                  <a:cs typeface="Intro Rust"/>
                  <a:sym typeface="Intro Rust"/>
                </a:rPr>
                <a:t>como utilizar swagger</a:t>
              </a:r>
            </a:p>
          </p:txBody>
        </p:sp>
        <p:sp>
          <p:nvSpPr>
            <p:cNvPr name="TextBox 8" id="8"/>
            <p:cNvSpPr txBox="true"/>
            <p:nvPr/>
          </p:nvSpPr>
          <p:spPr>
            <a:xfrm rot="0">
              <a:off x="1472842" y="963885"/>
              <a:ext cx="12853656" cy="1158240"/>
            </a:xfrm>
            <a:prstGeom prst="rect">
              <a:avLst/>
            </a:prstGeom>
          </p:spPr>
          <p:txBody>
            <a:bodyPr anchor="t" rtlCol="false" tIns="0" lIns="0" bIns="0" rIns="0">
              <a:spAutoFit/>
            </a:bodyPr>
            <a:lstStyle/>
            <a:p>
              <a:pPr algn="l" marL="0" indent="0" lvl="0">
                <a:lnSpc>
                  <a:spcPts val="6719"/>
                </a:lnSpc>
                <a:spcBef>
                  <a:spcPct val="0"/>
                </a:spcBef>
              </a:pPr>
              <a:r>
                <a:rPr lang="en-US" sz="4799">
                  <a:solidFill>
                    <a:srgbClr val="5A99D1"/>
                  </a:solidFill>
                  <a:latin typeface="Mero Thai"/>
                  <a:ea typeface="Mero Thai"/>
                  <a:cs typeface="Mero Thai"/>
                  <a:sym typeface="Mero Thai"/>
                </a:rPr>
                <a:t>Con Flask</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1EFFA"/>
        </a:solidFill>
      </p:bgPr>
    </p:bg>
    <p:spTree>
      <p:nvGrpSpPr>
        <p:cNvPr id="1" name=""/>
        <p:cNvGrpSpPr/>
        <p:nvPr/>
      </p:nvGrpSpPr>
      <p:grpSpPr>
        <a:xfrm>
          <a:off x="0" y="0"/>
          <a:ext cx="0" cy="0"/>
          <a:chOff x="0" y="0"/>
          <a:chExt cx="0" cy="0"/>
        </a:xfrm>
      </p:grpSpPr>
      <p:grpSp>
        <p:nvGrpSpPr>
          <p:cNvPr name="Group 2" id="2"/>
          <p:cNvGrpSpPr/>
          <p:nvPr/>
        </p:nvGrpSpPr>
        <p:grpSpPr>
          <a:xfrm rot="0">
            <a:off x="1580001" y="4163494"/>
            <a:ext cx="4648966" cy="7280546"/>
            <a:chOff x="0" y="0"/>
            <a:chExt cx="1224419" cy="1917510"/>
          </a:xfrm>
        </p:grpSpPr>
        <p:sp>
          <p:nvSpPr>
            <p:cNvPr name="Freeform 3" id="3"/>
            <p:cNvSpPr/>
            <p:nvPr/>
          </p:nvSpPr>
          <p:spPr>
            <a:xfrm flipH="false" flipV="false" rot="0">
              <a:off x="0" y="0"/>
              <a:ext cx="1224419" cy="1917510"/>
            </a:xfrm>
            <a:custGeom>
              <a:avLst/>
              <a:gdLst/>
              <a:ahLst/>
              <a:cxnLst/>
              <a:rect r="r" b="b" t="t" l="l"/>
              <a:pathLst>
                <a:path h="1917510" w="1224419">
                  <a:moveTo>
                    <a:pt x="84930" y="0"/>
                  </a:moveTo>
                  <a:lnTo>
                    <a:pt x="1139489" y="0"/>
                  </a:lnTo>
                  <a:cubicBezTo>
                    <a:pt x="1162014" y="0"/>
                    <a:pt x="1183616" y="8948"/>
                    <a:pt x="1199544" y="24875"/>
                  </a:cubicBezTo>
                  <a:cubicBezTo>
                    <a:pt x="1215471" y="40803"/>
                    <a:pt x="1224419" y="62405"/>
                    <a:pt x="1224419" y="84930"/>
                  </a:cubicBezTo>
                  <a:lnTo>
                    <a:pt x="1224419" y="1832580"/>
                  </a:lnTo>
                  <a:cubicBezTo>
                    <a:pt x="1224419" y="1855105"/>
                    <a:pt x="1215471" y="1876707"/>
                    <a:pt x="1199544" y="1892634"/>
                  </a:cubicBezTo>
                  <a:cubicBezTo>
                    <a:pt x="1183616" y="1908562"/>
                    <a:pt x="1162014" y="1917510"/>
                    <a:pt x="1139489" y="1917510"/>
                  </a:cubicBezTo>
                  <a:lnTo>
                    <a:pt x="84930" y="1917510"/>
                  </a:lnTo>
                  <a:cubicBezTo>
                    <a:pt x="62405" y="1917510"/>
                    <a:pt x="40803" y="1908562"/>
                    <a:pt x="24875" y="1892634"/>
                  </a:cubicBezTo>
                  <a:cubicBezTo>
                    <a:pt x="8948" y="1876707"/>
                    <a:pt x="0" y="1855105"/>
                    <a:pt x="0" y="1832580"/>
                  </a:cubicBezTo>
                  <a:lnTo>
                    <a:pt x="0" y="84930"/>
                  </a:lnTo>
                  <a:cubicBezTo>
                    <a:pt x="0" y="62405"/>
                    <a:pt x="8948" y="40803"/>
                    <a:pt x="24875" y="24875"/>
                  </a:cubicBezTo>
                  <a:cubicBezTo>
                    <a:pt x="40803" y="8948"/>
                    <a:pt x="62405" y="0"/>
                    <a:pt x="84930" y="0"/>
                  </a:cubicBezTo>
                  <a:close/>
                </a:path>
              </a:pathLst>
            </a:custGeom>
            <a:solidFill>
              <a:srgbClr val="5A99D1"/>
            </a:solidFill>
          </p:spPr>
        </p:sp>
        <p:sp>
          <p:nvSpPr>
            <p:cNvPr name="TextBox 4" id="4"/>
            <p:cNvSpPr txBox="true"/>
            <p:nvPr/>
          </p:nvSpPr>
          <p:spPr>
            <a:xfrm>
              <a:off x="0" y="-142875"/>
              <a:ext cx="1224419" cy="2060385"/>
            </a:xfrm>
            <a:prstGeom prst="rect">
              <a:avLst/>
            </a:prstGeom>
          </p:spPr>
          <p:txBody>
            <a:bodyPr anchor="ctr" rtlCol="false" tIns="50800" lIns="50800" bIns="50800" rIns="50800"/>
            <a:lstStyle/>
            <a:p>
              <a:pPr algn="ctr">
                <a:lnSpc>
                  <a:spcPts val="4759"/>
                </a:lnSpc>
              </a:pPr>
            </a:p>
          </p:txBody>
        </p:sp>
      </p:grpSp>
      <p:grpSp>
        <p:nvGrpSpPr>
          <p:cNvPr name="Group 5" id="5"/>
          <p:cNvGrpSpPr/>
          <p:nvPr/>
        </p:nvGrpSpPr>
        <p:grpSpPr>
          <a:xfrm rot="0">
            <a:off x="3194439" y="3479689"/>
            <a:ext cx="1420089" cy="142008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8D0F0"/>
            </a:solidFill>
            <a:ln cap="sq">
              <a:noFill/>
              <a:prstDash val="solid"/>
              <a:miter/>
            </a:ln>
          </p:spPr>
        </p:sp>
        <p:sp>
          <p:nvSpPr>
            <p:cNvPr name="TextBox 7" id="7"/>
            <p:cNvSpPr txBox="true"/>
            <p:nvPr/>
          </p:nvSpPr>
          <p:spPr>
            <a:xfrm>
              <a:off x="76200" y="-9525"/>
              <a:ext cx="660400" cy="746125"/>
            </a:xfrm>
            <a:prstGeom prst="rect">
              <a:avLst/>
            </a:prstGeom>
          </p:spPr>
          <p:txBody>
            <a:bodyPr anchor="ctr" rtlCol="false" tIns="50800" lIns="50800" bIns="50800" rIns="50800"/>
            <a:lstStyle/>
            <a:p>
              <a:pPr algn="ctr" marL="0" indent="0" lvl="0">
                <a:lnSpc>
                  <a:spcPts val="5599"/>
                </a:lnSpc>
                <a:spcBef>
                  <a:spcPct val="0"/>
                </a:spcBef>
              </a:pPr>
              <a:r>
                <a:rPr lang="en-US" sz="3999" strike="noStrike" u="none">
                  <a:solidFill>
                    <a:srgbClr val="34495E"/>
                  </a:solidFill>
                  <a:latin typeface="Intro Rust"/>
                  <a:ea typeface="Intro Rust"/>
                  <a:cs typeface="Intro Rust"/>
                  <a:sym typeface="Intro Rust"/>
                </a:rPr>
                <a:t>01</a:t>
              </a:r>
            </a:p>
          </p:txBody>
        </p:sp>
      </p:grpSp>
      <p:grpSp>
        <p:nvGrpSpPr>
          <p:cNvPr name="Group 8" id="8"/>
          <p:cNvGrpSpPr/>
          <p:nvPr/>
        </p:nvGrpSpPr>
        <p:grpSpPr>
          <a:xfrm rot="0">
            <a:off x="6819517" y="4163494"/>
            <a:ext cx="4648966" cy="7280546"/>
            <a:chOff x="0" y="0"/>
            <a:chExt cx="1224419" cy="1917510"/>
          </a:xfrm>
        </p:grpSpPr>
        <p:sp>
          <p:nvSpPr>
            <p:cNvPr name="Freeform 9" id="9"/>
            <p:cNvSpPr/>
            <p:nvPr/>
          </p:nvSpPr>
          <p:spPr>
            <a:xfrm flipH="false" flipV="false" rot="0">
              <a:off x="0" y="0"/>
              <a:ext cx="1224419" cy="1917510"/>
            </a:xfrm>
            <a:custGeom>
              <a:avLst/>
              <a:gdLst/>
              <a:ahLst/>
              <a:cxnLst/>
              <a:rect r="r" b="b" t="t" l="l"/>
              <a:pathLst>
                <a:path h="1917510" w="1224419">
                  <a:moveTo>
                    <a:pt x="84930" y="0"/>
                  </a:moveTo>
                  <a:lnTo>
                    <a:pt x="1139489" y="0"/>
                  </a:lnTo>
                  <a:cubicBezTo>
                    <a:pt x="1162014" y="0"/>
                    <a:pt x="1183616" y="8948"/>
                    <a:pt x="1199544" y="24875"/>
                  </a:cubicBezTo>
                  <a:cubicBezTo>
                    <a:pt x="1215471" y="40803"/>
                    <a:pt x="1224419" y="62405"/>
                    <a:pt x="1224419" y="84930"/>
                  </a:cubicBezTo>
                  <a:lnTo>
                    <a:pt x="1224419" y="1832580"/>
                  </a:lnTo>
                  <a:cubicBezTo>
                    <a:pt x="1224419" y="1855105"/>
                    <a:pt x="1215471" y="1876707"/>
                    <a:pt x="1199544" y="1892634"/>
                  </a:cubicBezTo>
                  <a:cubicBezTo>
                    <a:pt x="1183616" y="1908562"/>
                    <a:pt x="1162014" y="1917510"/>
                    <a:pt x="1139489" y="1917510"/>
                  </a:cubicBezTo>
                  <a:lnTo>
                    <a:pt x="84930" y="1917510"/>
                  </a:lnTo>
                  <a:cubicBezTo>
                    <a:pt x="62405" y="1917510"/>
                    <a:pt x="40803" y="1908562"/>
                    <a:pt x="24875" y="1892634"/>
                  </a:cubicBezTo>
                  <a:cubicBezTo>
                    <a:pt x="8948" y="1876707"/>
                    <a:pt x="0" y="1855105"/>
                    <a:pt x="0" y="1832580"/>
                  </a:cubicBezTo>
                  <a:lnTo>
                    <a:pt x="0" y="84930"/>
                  </a:lnTo>
                  <a:cubicBezTo>
                    <a:pt x="0" y="62405"/>
                    <a:pt x="8948" y="40803"/>
                    <a:pt x="24875" y="24875"/>
                  </a:cubicBezTo>
                  <a:cubicBezTo>
                    <a:pt x="40803" y="8948"/>
                    <a:pt x="62405" y="0"/>
                    <a:pt x="84930" y="0"/>
                  </a:cubicBezTo>
                  <a:close/>
                </a:path>
              </a:pathLst>
            </a:custGeom>
            <a:solidFill>
              <a:srgbClr val="5A99D1"/>
            </a:solidFill>
          </p:spPr>
        </p:sp>
        <p:sp>
          <p:nvSpPr>
            <p:cNvPr name="TextBox 10" id="10"/>
            <p:cNvSpPr txBox="true"/>
            <p:nvPr/>
          </p:nvSpPr>
          <p:spPr>
            <a:xfrm>
              <a:off x="0" y="-142875"/>
              <a:ext cx="1224419" cy="2060385"/>
            </a:xfrm>
            <a:prstGeom prst="rect">
              <a:avLst/>
            </a:prstGeom>
          </p:spPr>
          <p:txBody>
            <a:bodyPr anchor="ctr" rtlCol="false" tIns="50800" lIns="50800" bIns="50800" rIns="50800"/>
            <a:lstStyle/>
            <a:p>
              <a:pPr algn="ctr">
                <a:lnSpc>
                  <a:spcPts val="4759"/>
                </a:lnSpc>
              </a:pPr>
            </a:p>
          </p:txBody>
        </p:sp>
      </p:grpSp>
      <p:grpSp>
        <p:nvGrpSpPr>
          <p:cNvPr name="Group 11" id="11"/>
          <p:cNvGrpSpPr/>
          <p:nvPr/>
        </p:nvGrpSpPr>
        <p:grpSpPr>
          <a:xfrm rot="0">
            <a:off x="12059033" y="4163494"/>
            <a:ext cx="4648966" cy="7280546"/>
            <a:chOff x="0" y="0"/>
            <a:chExt cx="1224419" cy="1917510"/>
          </a:xfrm>
        </p:grpSpPr>
        <p:sp>
          <p:nvSpPr>
            <p:cNvPr name="Freeform 12" id="12"/>
            <p:cNvSpPr/>
            <p:nvPr/>
          </p:nvSpPr>
          <p:spPr>
            <a:xfrm flipH="false" flipV="false" rot="0">
              <a:off x="0" y="0"/>
              <a:ext cx="1224419" cy="1917510"/>
            </a:xfrm>
            <a:custGeom>
              <a:avLst/>
              <a:gdLst/>
              <a:ahLst/>
              <a:cxnLst/>
              <a:rect r="r" b="b" t="t" l="l"/>
              <a:pathLst>
                <a:path h="1917510" w="1224419">
                  <a:moveTo>
                    <a:pt x="84930" y="0"/>
                  </a:moveTo>
                  <a:lnTo>
                    <a:pt x="1139489" y="0"/>
                  </a:lnTo>
                  <a:cubicBezTo>
                    <a:pt x="1162014" y="0"/>
                    <a:pt x="1183616" y="8948"/>
                    <a:pt x="1199544" y="24875"/>
                  </a:cubicBezTo>
                  <a:cubicBezTo>
                    <a:pt x="1215471" y="40803"/>
                    <a:pt x="1224419" y="62405"/>
                    <a:pt x="1224419" y="84930"/>
                  </a:cubicBezTo>
                  <a:lnTo>
                    <a:pt x="1224419" y="1832580"/>
                  </a:lnTo>
                  <a:cubicBezTo>
                    <a:pt x="1224419" y="1855105"/>
                    <a:pt x="1215471" y="1876707"/>
                    <a:pt x="1199544" y="1892634"/>
                  </a:cubicBezTo>
                  <a:cubicBezTo>
                    <a:pt x="1183616" y="1908562"/>
                    <a:pt x="1162014" y="1917510"/>
                    <a:pt x="1139489" y="1917510"/>
                  </a:cubicBezTo>
                  <a:lnTo>
                    <a:pt x="84930" y="1917510"/>
                  </a:lnTo>
                  <a:cubicBezTo>
                    <a:pt x="62405" y="1917510"/>
                    <a:pt x="40803" y="1908562"/>
                    <a:pt x="24875" y="1892634"/>
                  </a:cubicBezTo>
                  <a:cubicBezTo>
                    <a:pt x="8948" y="1876707"/>
                    <a:pt x="0" y="1855105"/>
                    <a:pt x="0" y="1832580"/>
                  </a:cubicBezTo>
                  <a:lnTo>
                    <a:pt x="0" y="84930"/>
                  </a:lnTo>
                  <a:cubicBezTo>
                    <a:pt x="0" y="62405"/>
                    <a:pt x="8948" y="40803"/>
                    <a:pt x="24875" y="24875"/>
                  </a:cubicBezTo>
                  <a:cubicBezTo>
                    <a:pt x="40803" y="8948"/>
                    <a:pt x="62405" y="0"/>
                    <a:pt x="84930" y="0"/>
                  </a:cubicBezTo>
                  <a:close/>
                </a:path>
              </a:pathLst>
            </a:custGeom>
            <a:solidFill>
              <a:srgbClr val="5A99D1"/>
            </a:solidFill>
          </p:spPr>
        </p:sp>
        <p:sp>
          <p:nvSpPr>
            <p:cNvPr name="TextBox 13" id="13"/>
            <p:cNvSpPr txBox="true"/>
            <p:nvPr/>
          </p:nvSpPr>
          <p:spPr>
            <a:xfrm>
              <a:off x="0" y="-142875"/>
              <a:ext cx="1224419" cy="2060385"/>
            </a:xfrm>
            <a:prstGeom prst="rect">
              <a:avLst/>
            </a:prstGeom>
          </p:spPr>
          <p:txBody>
            <a:bodyPr anchor="ctr" rtlCol="false" tIns="50800" lIns="50800" bIns="50800" rIns="50800"/>
            <a:lstStyle/>
            <a:p>
              <a:pPr algn="ctr">
                <a:lnSpc>
                  <a:spcPts val="4759"/>
                </a:lnSpc>
              </a:pPr>
            </a:p>
          </p:txBody>
        </p:sp>
      </p:grpSp>
      <p:grpSp>
        <p:nvGrpSpPr>
          <p:cNvPr name="Group 14" id="14"/>
          <p:cNvGrpSpPr/>
          <p:nvPr/>
        </p:nvGrpSpPr>
        <p:grpSpPr>
          <a:xfrm rot="0">
            <a:off x="8434934" y="3479689"/>
            <a:ext cx="1420089" cy="1420089"/>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8D0F0"/>
            </a:solidFill>
            <a:ln cap="sq">
              <a:noFill/>
              <a:prstDash val="solid"/>
              <a:miter/>
            </a:ln>
          </p:spPr>
        </p:sp>
        <p:sp>
          <p:nvSpPr>
            <p:cNvPr name="TextBox 16" id="16"/>
            <p:cNvSpPr txBox="true"/>
            <p:nvPr/>
          </p:nvSpPr>
          <p:spPr>
            <a:xfrm>
              <a:off x="76200" y="-9525"/>
              <a:ext cx="660400" cy="746125"/>
            </a:xfrm>
            <a:prstGeom prst="rect">
              <a:avLst/>
            </a:prstGeom>
          </p:spPr>
          <p:txBody>
            <a:bodyPr anchor="ctr" rtlCol="false" tIns="50800" lIns="50800" bIns="50800" rIns="50800"/>
            <a:lstStyle/>
            <a:p>
              <a:pPr algn="ctr" marL="0" indent="0" lvl="0">
                <a:lnSpc>
                  <a:spcPts val="5599"/>
                </a:lnSpc>
                <a:spcBef>
                  <a:spcPct val="0"/>
                </a:spcBef>
              </a:pPr>
              <a:r>
                <a:rPr lang="en-US" sz="3999" strike="noStrike" u="none">
                  <a:solidFill>
                    <a:srgbClr val="34495E"/>
                  </a:solidFill>
                  <a:latin typeface="Intro Rust"/>
                  <a:ea typeface="Intro Rust"/>
                  <a:cs typeface="Intro Rust"/>
                  <a:sym typeface="Intro Rust"/>
                </a:rPr>
                <a:t>02</a:t>
              </a:r>
            </a:p>
          </p:txBody>
        </p:sp>
      </p:grpSp>
      <p:grpSp>
        <p:nvGrpSpPr>
          <p:cNvPr name="Group 17" id="17"/>
          <p:cNvGrpSpPr/>
          <p:nvPr/>
        </p:nvGrpSpPr>
        <p:grpSpPr>
          <a:xfrm rot="0">
            <a:off x="13673472" y="3479689"/>
            <a:ext cx="1420089" cy="1420089"/>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8D0F0"/>
            </a:solidFill>
            <a:ln cap="sq">
              <a:noFill/>
              <a:prstDash val="solid"/>
              <a:miter/>
            </a:ln>
          </p:spPr>
        </p:sp>
        <p:sp>
          <p:nvSpPr>
            <p:cNvPr name="TextBox 19" id="19"/>
            <p:cNvSpPr txBox="true"/>
            <p:nvPr/>
          </p:nvSpPr>
          <p:spPr>
            <a:xfrm>
              <a:off x="76200" y="-9525"/>
              <a:ext cx="660400" cy="746125"/>
            </a:xfrm>
            <a:prstGeom prst="rect">
              <a:avLst/>
            </a:prstGeom>
          </p:spPr>
          <p:txBody>
            <a:bodyPr anchor="ctr" rtlCol="false" tIns="50800" lIns="50800" bIns="50800" rIns="50800"/>
            <a:lstStyle/>
            <a:p>
              <a:pPr algn="ctr" marL="0" indent="0" lvl="0">
                <a:lnSpc>
                  <a:spcPts val="5599"/>
                </a:lnSpc>
                <a:spcBef>
                  <a:spcPct val="0"/>
                </a:spcBef>
              </a:pPr>
              <a:r>
                <a:rPr lang="en-US" sz="3999" strike="noStrike" u="none">
                  <a:solidFill>
                    <a:srgbClr val="34495E"/>
                  </a:solidFill>
                  <a:latin typeface="Intro Rust"/>
                  <a:ea typeface="Intro Rust"/>
                  <a:cs typeface="Intro Rust"/>
                  <a:sym typeface="Intro Rust"/>
                </a:rPr>
                <a:t>03</a:t>
              </a:r>
            </a:p>
          </p:txBody>
        </p:sp>
      </p:grpSp>
      <p:sp>
        <p:nvSpPr>
          <p:cNvPr name="Freeform 20" id="20"/>
          <p:cNvSpPr/>
          <p:nvPr/>
        </p:nvSpPr>
        <p:spPr>
          <a:xfrm flipH="false" flipV="false" rot="-839608">
            <a:off x="14627140" y="603014"/>
            <a:ext cx="2920680" cy="2352475"/>
          </a:xfrm>
          <a:custGeom>
            <a:avLst/>
            <a:gdLst/>
            <a:ahLst/>
            <a:cxnLst/>
            <a:rect r="r" b="b" t="t" l="l"/>
            <a:pathLst>
              <a:path h="2352475" w="2920680">
                <a:moveTo>
                  <a:pt x="0" y="0"/>
                </a:moveTo>
                <a:lnTo>
                  <a:pt x="2920679" y="0"/>
                </a:lnTo>
                <a:lnTo>
                  <a:pt x="2920679" y="2352475"/>
                </a:lnTo>
                <a:lnTo>
                  <a:pt x="0" y="23524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21" id="21"/>
          <p:cNvGrpSpPr/>
          <p:nvPr/>
        </p:nvGrpSpPr>
        <p:grpSpPr>
          <a:xfrm rot="0">
            <a:off x="1028700" y="1028700"/>
            <a:ext cx="16230600" cy="1943073"/>
            <a:chOff x="0" y="0"/>
            <a:chExt cx="21640800" cy="2590764"/>
          </a:xfrm>
        </p:grpSpPr>
        <p:sp>
          <p:nvSpPr>
            <p:cNvPr name="TextBox 22" id="22"/>
            <p:cNvSpPr txBox="true"/>
            <p:nvPr/>
          </p:nvSpPr>
          <p:spPr>
            <a:xfrm rot="0">
              <a:off x="0" y="-285750"/>
              <a:ext cx="21640800" cy="1678015"/>
            </a:xfrm>
            <a:prstGeom prst="rect">
              <a:avLst/>
            </a:prstGeom>
          </p:spPr>
          <p:txBody>
            <a:bodyPr anchor="t" rtlCol="false" tIns="0" lIns="0" bIns="0" rIns="0">
              <a:spAutoFit/>
            </a:bodyPr>
            <a:lstStyle/>
            <a:p>
              <a:pPr algn="ctr">
                <a:lnSpc>
                  <a:spcPts val="9645"/>
                </a:lnSpc>
              </a:pPr>
              <a:r>
                <a:rPr lang="en-US" sz="6889" b="true">
                  <a:solidFill>
                    <a:srgbClr val="34495E"/>
                  </a:solidFill>
                  <a:latin typeface="Mero Thai Bold"/>
                  <a:ea typeface="Mero Thai Bold"/>
                  <a:cs typeface="Mero Thai Bold"/>
                  <a:sym typeface="Mero Thai Bold"/>
                </a:rPr>
                <a:t>Como conectar Flask</a:t>
              </a:r>
            </a:p>
          </p:txBody>
        </p:sp>
        <p:sp>
          <p:nvSpPr>
            <p:cNvPr name="TextBox 23" id="23"/>
            <p:cNvSpPr txBox="true"/>
            <p:nvPr/>
          </p:nvSpPr>
          <p:spPr>
            <a:xfrm rot="0">
              <a:off x="0" y="1432524"/>
              <a:ext cx="21640800" cy="1158240"/>
            </a:xfrm>
            <a:prstGeom prst="rect">
              <a:avLst/>
            </a:prstGeom>
          </p:spPr>
          <p:txBody>
            <a:bodyPr anchor="t" rtlCol="false" tIns="0" lIns="0" bIns="0" rIns="0">
              <a:spAutoFit/>
            </a:bodyPr>
            <a:lstStyle/>
            <a:p>
              <a:pPr algn="ctr" marL="0" indent="0" lvl="0">
                <a:lnSpc>
                  <a:spcPts val="6719"/>
                </a:lnSpc>
                <a:spcBef>
                  <a:spcPct val="0"/>
                </a:spcBef>
              </a:pPr>
              <a:r>
                <a:rPr lang="en-US" sz="4799">
                  <a:solidFill>
                    <a:srgbClr val="5A99D1"/>
                  </a:solidFill>
                  <a:latin typeface="Mero Thai"/>
                  <a:ea typeface="Mero Thai"/>
                  <a:cs typeface="Mero Thai"/>
                  <a:sym typeface="Mero Thai"/>
                </a:rPr>
                <a:t>Con MySQL</a:t>
              </a:r>
            </a:p>
          </p:txBody>
        </p:sp>
      </p:grpSp>
      <p:sp>
        <p:nvSpPr>
          <p:cNvPr name="TextBox 24" id="24"/>
          <p:cNvSpPr txBox="true"/>
          <p:nvPr/>
        </p:nvSpPr>
        <p:spPr>
          <a:xfrm rot="0">
            <a:off x="1929892" y="6667423"/>
            <a:ext cx="3949184" cy="3396615"/>
          </a:xfrm>
          <a:prstGeom prst="rect">
            <a:avLst/>
          </a:prstGeom>
        </p:spPr>
        <p:txBody>
          <a:bodyPr anchor="t" rtlCol="false" tIns="0" lIns="0" bIns="0" rIns="0">
            <a:spAutoFit/>
          </a:bodyPr>
          <a:lstStyle/>
          <a:p>
            <a:pPr algn="ctr">
              <a:lnSpc>
                <a:spcPts val="3359"/>
              </a:lnSpc>
            </a:pPr>
            <a:r>
              <a:rPr lang="en-US" sz="2400">
                <a:solidFill>
                  <a:srgbClr val="F2F9FF"/>
                </a:solidFill>
                <a:latin typeface="Mero Thai"/>
                <a:ea typeface="Mero Thai"/>
                <a:cs typeface="Mero Thai"/>
                <a:sym typeface="Mero Thai"/>
              </a:rPr>
              <a:t>Instalar los paquetes necesarios</a:t>
            </a:r>
          </a:p>
          <a:p>
            <a:pPr algn="ctr">
              <a:lnSpc>
                <a:spcPts val="3359"/>
              </a:lnSpc>
            </a:pPr>
            <a:r>
              <a:rPr lang="en-US" sz="2400">
                <a:solidFill>
                  <a:srgbClr val="F2F9FF"/>
                </a:solidFill>
                <a:latin typeface="Mero Thai"/>
                <a:ea typeface="Mero Thai"/>
                <a:cs typeface="Mero Thai"/>
                <a:sym typeface="Mero Thai"/>
              </a:rPr>
              <a:t>Usa pip para instalar Flask y el conector de MySQL:</a:t>
            </a:r>
          </a:p>
          <a:p>
            <a:pPr algn="ctr">
              <a:lnSpc>
                <a:spcPts val="3359"/>
              </a:lnSpc>
            </a:pPr>
            <a:r>
              <a:rPr lang="en-US" sz="2400">
                <a:solidFill>
                  <a:srgbClr val="F2F9FF"/>
                </a:solidFill>
                <a:latin typeface="Mero Thai"/>
                <a:ea typeface="Mero Thai"/>
                <a:cs typeface="Mero Thai"/>
                <a:sym typeface="Mero Thai"/>
              </a:rPr>
              <a:t>pip install Flask flask-mysqldb</a:t>
            </a:r>
          </a:p>
          <a:p>
            <a:pPr algn="ctr">
              <a:lnSpc>
                <a:spcPts val="3359"/>
              </a:lnSpc>
            </a:pPr>
          </a:p>
        </p:txBody>
      </p:sp>
      <p:sp>
        <p:nvSpPr>
          <p:cNvPr name="TextBox 25" id="25"/>
          <p:cNvSpPr txBox="true"/>
          <p:nvPr/>
        </p:nvSpPr>
        <p:spPr>
          <a:xfrm rot="0">
            <a:off x="2450179" y="5495464"/>
            <a:ext cx="2908609" cy="537845"/>
          </a:xfrm>
          <a:prstGeom prst="rect">
            <a:avLst/>
          </a:prstGeom>
        </p:spPr>
        <p:txBody>
          <a:bodyPr anchor="t" rtlCol="false" tIns="0" lIns="0" bIns="0" rIns="0">
            <a:spAutoFit/>
          </a:bodyPr>
          <a:lstStyle/>
          <a:p>
            <a:pPr algn="ctr">
              <a:lnSpc>
                <a:spcPts val="4480"/>
              </a:lnSpc>
            </a:pPr>
            <a:r>
              <a:rPr lang="en-US" sz="3200">
                <a:solidFill>
                  <a:srgbClr val="FFFFFF"/>
                </a:solidFill>
                <a:latin typeface="Intro Rust"/>
                <a:ea typeface="Intro Rust"/>
                <a:cs typeface="Intro Rust"/>
                <a:sym typeface="Intro Rust"/>
              </a:rPr>
              <a:t>Instalar</a:t>
            </a:r>
          </a:p>
        </p:txBody>
      </p:sp>
      <p:sp>
        <p:nvSpPr>
          <p:cNvPr name="TextBox 26" id="26"/>
          <p:cNvSpPr txBox="true"/>
          <p:nvPr/>
        </p:nvSpPr>
        <p:spPr>
          <a:xfrm rot="0">
            <a:off x="7690674" y="5482675"/>
            <a:ext cx="2908609" cy="553899"/>
          </a:xfrm>
          <a:prstGeom prst="rect">
            <a:avLst/>
          </a:prstGeom>
        </p:spPr>
        <p:txBody>
          <a:bodyPr anchor="t" rtlCol="false" tIns="0" lIns="0" bIns="0" rIns="0">
            <a:spAutoFit/>
          </a:bodyPr>
          <a:lstStyle/>
          <a:p>
            <a:pPr algn="ctr" marL="0" indent="0" lvl="0">
              <a:lnSpc>
                <a:spcPts val="4479"/>
              </a:lnSpc>
              <a:spcBef>
                <a:spcPct val="0"/>
              </a:spcBef>
            </a:pPr>
            <a:r>
              <a:rPr lang="en-US" sz="3199">
                <a:solidFill>
                  <a:srgbClr val="FFFFFF"/>
                </a:solidFill>
                <a:latin typeface="Intro Rust"/>
                <a:ea typeface="Intro Rust"/>
                <a:cs typeface="Intro Rust"/>
                <a:sym typeface="Intro Rust"/>
              </a:rPr>
              <a:t>configurar</a:t>
            </a:r>
          </a:p>
        </p:txBody>
      </p:sp>
      <p:sp>
        <p:nvSpPr>
          <p:cNvPr name="TextBox 27" id="27"/>
          <p:cNvSpPr txBox="true"/>
          <p:nvPr/>
        </p:nvSpPr>
        <p:spPr>
          <a:xfrm rot="0">
            <a:off x="12929212" y="5482675"/>
            <a:ext cx="2908609" cy="553899"/>
          </a:xfrm>
          <a:prstGeom prst="rect">
            <a:avLst/>
          </a:prstGeom>
        </p:spPr>
        <p:txBody>
          <a:bodyPr anchor="t" rtlCol="false" tIns="0" lIns="0" bIns="0" rIns="0">
            <a:spAutoFit/>
          </a:bodyPr>
          <a:lstStyle/>
          <a:p>
            <a:pPr algn="ctr" marL="0" indent="0" lvl="0">
              <a:lnSpc>
                <a:spcPts val="4479"/>
              </a:lnSpc>
              <a:spcBef>
                <a:spcPct val="0"/>
              </a:spcBef>
            </a:pPr>
            <a:r>
              <a:rPr lang="en-US" sz="3199">
                <a:solidFill>
                  <a:srgbClr val="FFFFFF"/>
                </a:solidFill>
                <a:latin typeface="Intro Rust"/>
                <a:ea typeface="Intro Rust"/>
                <a:cs typeface="Intro Rust"/>
                <a:sym typeface="Intro Rust"/>
              </a:rPr>
              <a:t>consultar</a:t>
            </a:r>
          </a:p>
        </p:txBody>
      </p:sp>
      <p:sp>
        <p:nvSpPr>
          <p:cNvPr name="TextBox 28" id="28"/>
          <p:cNvSpPr txBox="true"/>
          <p:nvPr/>
        </p:nvSpPr>
        <p:spPr>
          <a:xfrm rot="0">
            <a:off x="7169408" y="6667423"/>
            <a:ext cx="3949184" cy="2558415"/>
          </a:xfrm>
          <a:prstGeom prst="rect">
            <a:avLst/>
          </a:prstGeom>
        </p:spPr>
        <p:txBody>
          <a:bodyPr anchor="t" rtlCol="false" tIns="0" lIns="0" bIns="0" rIns="0">
            <a:spAutoFit/>
          </a:bodyPr>
          <a:lstStyle/>
          <a:p>
            <a:pPr algn="ctr">
              <a:lnSpc>
                <a:spcPts val="3359"/>
              </a:lnSpc>
            </a:pPr>
            <a:r>
              <a:rPr lang="en-US" sz="2400">
                <a:solidFill>
                  <a:srgbClr val="F2F9FF"/>
                </a:solidFill>
                <a:latin typeface="Mero Thai"/>
                <a:ea typeface="Mero Thai"/>
                <a:cs typeface="Mero Thai"/>
                <a:sym typeface="Mero Thai"/>
              </a:rPr>
              <a:t>Configurar la Aplicación (app.py)</a:t>
            </a:r>
          </a:p>
          <a:p>
            <a:pPr algn="ctr">
              <a:lnSpc>
                <a:spcPts val="3359"/>
              </a:lnSpc>
            </a:pPr>
            <a:r>
              <a:rPr lang="en-US" sz="2400">
                <a:solidFill>
                  <a:srgbClr val="F2F9FF"/>
                </a:solidFill>
                <a:latin typeface="Mero Thai"/>
                <a:ea typeface="Mero Thai"/>
                <a:cs typeface="Mero Thai"/>
                <a:sym typeface="Mero Thai"/>
              </a:rPr>
              <a:t>Importa MySQL desde flask_mysqldb y configura las credenciales.</a:t>
            </a:r>
          </a:p>
        </p:txBody>
      </p:sp>
      <p:sp>
        <p:nvSpPr>
          <p:cNvPr name="TextBox 29" id="29"/>
          <p:cNvSpPr txBox="true"/>
          <p:nvPr/>
        </p:nvSpPr>
        <p:spPr>
          <a:xfrm rot="0">
            <a:off x="12411458" y="6699885"/>
            <a:ext cx="3949184" cy="2558415"/>
          </a:xfrm>
          <a:prstGeom prst="rect">
            <a:avLst/>
          </a:prstGeom>
        </p:spPr>
        <p:txBody>
          <a:bodyPr anchor="t" rtlCol="false" tIns="0" lIns="0" bIns="0" rIns="0">
            <a:spAutoFit/>
          </a:bodyPr>
          <a:lstStyle/>
          <a:p>
            <a:pPr algn="ctr">
              <a:lnSpc>
                <a:spcPts val="3359"/>
              </a:lnSpc>
            </a:pPr>
            <a:r>
              <a:rPr lang="en-US" sz="2400">
                <a:solidFill>
                  <a:srgbClr val="F2F9FF"/>
                </a:solidFill>
                <a:latin typeface="Mero Thai"/>
                <a:ea typeface="Mero Thai"/>
                <a:cs typeface="Mero Thai"/>
                <a:sym typeface="Mero Thai"/>
              </a:rPr>
              <a:t>Realizar una consulta (Ejemplo de ruta)</a:t>
            </a:r>
          </a:p>
          <a:p>
            <a:pPr algn="ctr">
              <a:lnSpc>
                <a:spcPts val="3359"/>
              </a:lnSpc>
            </a:pPr>
            <a:r>
              <a:rPr lang="en-US" sz="2400">
                <a:solidFill>
                  <a:srgbClr val="F2F9FF"/>
                </a:solidFill>
                <a:latin typeface="Mero Thai"/>
                <a:ea typeface="Mero Thai"/>
                <a:cs typeface="Mero Thai"/>
                <a:sym typeface="Mero Thai"/>
              </a:rPr>
              <a:t>Crea una ruta para interactuar con la base de datos utilizando mysql.connection.cursor()</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34495E"/>
        </a:solidFill>
      </p:bgPr>
    </p:bg>
    <p:spTree>
      <p:nvGrpSpPr>
        <p:cNvPr id="1" name=""/>
        <p:cNvGrpSpPr/>
        <p:nvPr/>
      </p:nvGrpSpPr>
      <p:grpSpPr>
        <a:xfrm>
          <a:off x="0" y="0"/>
          <a:ext cx="0" cy="0"/>
          <a:chOff x="0" y="0"/>
          <a:chExt cx="0" cy="0"/>
        </a:xfrm>
      </p:grpSpPr>
      <p:sp>
        <p:nvSpPr>
          <p:cNvPr name="Freeform 2" id="2"/>
          <p:cNvSpPr/>
          <p:nvPr/>
        </p:nvSpPr>
        <p:spPr>
          <a:xfrm flipH="false" flipV="false" rot="0">
            <a:off x="-338073" y="4007702"/>
            <a:ext cx="2205514" cy="2271597"/>
          </a:xfrm>
          <a:custGeom>
            <a:avLst/>
            <a:gdLst/>
            <a:ahLst/>
            <a:cxnLst/>
            <a:rect r="r" b="b" t="t" l="l"/>
            <a:pathLst>
              <a:path h="2271597" w="2205514">
                <a:moveTo>
                  <a:pt x="0" y="0"/>
                </a:moveTo>
                <a:lnTo>
                  <a:pt x="2205514" y="0"/>
                </a:lnTo>
                <a:lnTo>
                  <a:pt x="2205514" y="2271596"/>
                </a:lnTo>
                <a:lnTo>
                  <a:pt x="0" y="22715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08036" y="2464379"/>
            <a:ext cx="15071928" cy="5681838"/>
            <a:chOff x="0" y="0"/>
            <a:chExt cx="3969561" cy="1496451"/>
          </a:xfrm>
        </p:grpSpPr>
        <p:sp>
          <p:nvSpPr>
            <p:cNvPr name="Freeform 4" id="4"/>
            <p:cNvSpPr/>
            <p:nvPr/>
          </p:nvSpPr>
          <p:spPr>
            <a:xfrm flipH="false" flipV="false" rot="0">
              <a:off x="0" y="0"/>
              <a:ext cx="3969561" cy="1496451"/>
            </a:xfrm>
            <a:custGeom>
              <a:avLst/>
              <a:gdLst/>
              <a:ahLst/>
              <a:cxnLst/>
              <a:rect r="r" b="b" t="t" l="l"/>
              <a:pathLst>
                <a:path h="1496451" w="3969561">
                  <a:moveTo>
                    <a:pt x="26197" y="0"/>
                  </a:moveTo>
                  <a:lnTo>
                    <a:pt x="3943364" y="0"/>
                  </a:lnTo>
                  <a:cubicBezTo>
                    <a:pt x="3950312" y="0"/>
                    <a:pt x="3956976" y="2760"/>
                    <a:pt x="3961888" y="7673"/>
                  </a:cubicBezTo>
                  <a:cubicBezTo>
                    <a:pt x="3966801" y="12586"/>
                    <a:pt x="3969561" y="19249"/>
                    <a:pt x="3969561" y="26197"/>
                  </a:cubicBezTo>
                  <a:lnTo>
                    <a:pt x="3969561" y="1470254"/>
                  </a:lnTo>
                  <a:cubicBezTo>
                    <a:pt x="3969561" y="1477202"/>
                    <a:pt x="3966801" y="1483865"/>
                    <a:pt x="3961888" y="1488778"/>
                  </a:cubicBezTo>
                  <a:cubicBezTo>
                    <a:pt x="3956976" y="1493691"/>
                    <a:pt x="3950312" y="1496451"/>
                    <a:pt x="3943364" y="1496451"/>
                  </a:cubicBezTo>
                  <a:lnTo>
                    <a:pt x="26197" y="1496451"/>
                  </a:lnTo>
                  <a:cubicBezTo>
                    <a:pt x="19249" y="1496451"/>
                    <a:pt x="12586" y="1493691"/>
                    <a:pt x="7673" y="1488778"/>
                  </a:cubicBezTo>
                  <a:cubicBezTo>
                    <a:pt x="2760" y="1483865"/>
                    <a:pt x="0" y="1477202"/>
                    <a:pt x="0" y="1470254"/>
                  </a:cubicBezTo>
                  <a:lnTo>
                    <a:pt x="0" y="26197"/>
                  </a:lnTo>
                  <a:cubicBezTo>
                    <a:pt x="0" y="19249"/>
                    <a:pt x="2760" y="12586"/>
                    <a:pt x="7673" y="7673"/>
                  </a:cubicBezTo>
                  <a:cubicBezTo>
                    <a:pt x="12586" y="2760"/>
                    <a:pt x="19249" y="0"/>
                    <a:pt x="26197" y="0"/>
                  </a:cubicBezTo>
                  <a:close/>
                </a:path>
              </a:pathLst>
            </a:custGeom>
            <a:solidFill>
              <a:srgbClr val="A8D0F0"/>
            </a:solidFill>
            <a:ln cap="rnd">
              <a:noFill/>
              <a:prstDash val="solid"/>
              <a:round/>
            </a:ln>
          </p:spPr>
        </p:sp>
        <p:sp>
          <p:nvSpPr>
            <p:cNvPr name="TextBox 5" id="5"/>
            <p:cNvSpPr txBox="true"/>
            <p:nvPr/>
          </p:nvSpPr>
          <p:spPr>
            <a:xfrm>
              <a:off x="0" y="-76200"/>
              <a:ext cx="3969561" cy="1572651"/>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6435254" y="1906187"/>
            <a:ext cx="5417493" cy="792789"/>
            <a:chOff x="0" y="0"/>
            <a:chExt cx="1426829" cy="208800"/>
          </a:xfrm>
        </p:grpSpPr>
        <p:sp>
          <p:nvSpPr>
            <p:cNvPr name="Freeform 7" id="7"/>
            <p:cNvSpPr/>
            <p:nvPr/>
          </p:nvSpPr>
          <p:spPr>
            <a:xfrm flipH="false" flipV="false" rot="0">
              <a:off x="0" y="0"/>
              <a:ext cx="1426829" cy="208800"/>
            </a:xfrm>
            <a:custGeom>
              <a:avLst/>
              <a:gdLst/>
              <a:ahLst/>
              <a:cxnLst/>
              <a:rect r="r" b="b" t="t" l="l"/>
              <a:pathLst>
                <a:path h="208800" w="1426829">
                  <a:moveTo>
                    <a:pt x="72882" y="0"/>
                  </a:moveTo>
                  <a:lnTo>
                    <a:pt x="1353947" y="0"/>
                  </a:lnTo>
                  <a:cubicBezTo>
                    <a:pt x="1373277" y="0"/>
                    <a:pt x="1391815" y="7679"/>
                    <a:pt x="1405483" y="21347"/>
                  </a:cubicBezTo>
                  <a:cubicBezTo>
                    <a:pt x="1419151" y="35015"/>
                    <a:pt x="1426829" y="53553"/>
                    <a:pt x="1426829" y="72882"/>
                  </a:cubicBezTo>
                  <a:lnTo>
                    <a:pt x="1426829" y="135918"/>
                  </a:lnTo>
                  <a:cubicBezTo>
                    <a:pt x="1426829" y="155248"/>
                    <a:pt x="1419151" y="173786"/>
                    <a:pt x="1405483" y="187454"/>
                  </a:cubicBezTo>
                  <a:cubicBezTo>
                    <a:pt x="1391815" y="201122"/>
                    <a:pt x="1373277" y="208800"/>
                    <a:pt x="1353947" y="208800"/>
                  </a:cubicBezTo>
                  <a:lnTo>
                    <a:pt x="72882" y="208800"/>
                  </a:lnTo>
                  <a:cubicBezTo>
                    <a:pt x="53553" y="208800"/>
                    <a:pt x="35015" y="201122"/>
                    <a:pt x="21347" y="187454"/>
                  </a:cubicBezTo>
                  <a:cubicBezTo>
                    <a:pt x="7679" y="173786"/>
                    <a:pt x="0" y="155248"/>
                    <a:pt x="0" y="135918"/>
                  </a:cubicBezTo>
                  <a:lnTo>
                    <a:pt x="0" y="72882"/>
                  </a:lnTo>
                  <a:cubicBezTo>
                    <a:pt x="0" y="53553"/>
                    <a:pt x="7679" y="35015"/>
                    <a:pt x="21347" y="21347"/>
                  </a:cubicBezTo>
                  <a:cubicBezTo>
                    <a:pt x="35015" y="7679"/>
                    <a:pt x="53553" y="0"/>
                    <a:pt x="72882" y="0"/>
                  </a:cubicBezTo>
                  <a:close/>
                </a:path>
              </a:pathLst>
            </a:custGeom>
            <a:solidFill>
              <a:srgbClr val="FFFFFF"/>
            </a:solidFill>
          </p:spPr>
        </p:sp>
        <p:sp>
          <p:nvSpPr>
            <p:cNvPr name="TextBox 8" id="8"/>
            <p:cNvSpPr txBox="true"/>
            <p:nvPr/>
          </p:nvSpPr>
          <p:spPr>
            <a:xfrm>
              <a:off x="0" y="-114300"/>
              <a:ext cx="1426829" cy="323100"/>
            </a:xfrm>
            <a:prstGeom prst="rect">
              <a:avLst/>
            </a:prstGeom>
          </p:spPr>
          <p:txBody>
            <a:bodyPr anchor="ctr" rtlCol="false" tIns="50800" lIns="50800" bIns="50800" rIns="50800"/>
            <a:lstStyle/>
            <a:p>
              <a:pPr algn="ctr">
                <a:lnSpc>
                  <a:spcPts val="3639"/>
                </a:lnSpc>
              </a:pPr>
              <a:r>
                <a:rPr lang="en-US" sz="2599">
                  <a:solidFill>
                    <a:srgbClr val="073939"/>
                  </a:solidFill>
                  <a:latin typeface="Mero Thai"/>
                  <a:ea typeface="Mero Thai"/>
                  <a:cs typeface="Mero Thai"/>
                  <a:sym typeface="Mero Thai"/>
                </a:rPr>
                <a:t>BORCELLE INFORMÁTICA</a:t>
              </a:r>
            </a:p>
          </p:txBody>
        </p:sp>
      </p:grpSp>
      <p:sp>
        <p:nvSpPr>
          <p:cNvPr name="Freeform 9" id="9"/>
          <p:cNvSpPr/>
          <p:nvPr/>
        </p:nvSpPr>
        <p:spPr>
          <a:xfrm flipH="false" flipV="false" rot="1036696">
            <a:off x="3342864" y="8553362"/>
            <a:ext cx="1547911" cy="2702702"/>
          </a:xfrm>
          <a:custGeom>
            <a:avLst/>
            <a:gdLst/>
            <a:ahLst/>
            <a:cxnLst/>
            <a:rect r="r" b="b" t="t" l="l"/>
            <a:pathLst>
              <a:path h="2702702" w="1547911">
                <a:moveTo>
                  <a:pt x="0" y="0"/>
                </a:moveTo>
                <a:lnTo>
                  <a:pt x="1547911" y="0"/>
                </a:lnTo>
                <a:lnTo>
                  <a:pt x="1547911" y="2702702"/>
                </a:lnTo>
                <a:lnTo>
                  <a:pt x="0" y="27027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818161">
            <a:off x="-30042" y="8315171"/>
            <a:ext cx="1657468" cy="2234331"/>
          </a:xfrm>
          <a:custGeom>
            <a:avLst/>
            <a:gdLst/>
            <a:ahLst/>
            <a:cxnLst/>
            <a:rect r="r" b="b" t="t" l="l"/>
            <a:pathLst>
              <a:path h="2234331" w="1657468">
                <a:moveTo>
                  <a:pt x="0" y="0"/>
                </a:moveTo>
                <a:lnTo>
                  <a:pt x="1657467" y="0"/>
                </a:lnTo>
                <a:lnTo>
                  <a:pt x="1657467" y="2234332"/>
                </a:lnTo>
                <a:lnTo>
                  <a:pt x="0" y="22343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1057675">
            <a:off x="16502170" y="6462428"/>
            <a:ext cx="2352168" cy="3043982"/>
          </a:xfrm>
          <a:custGeom>
            <a:avLst/>
            <a:gdLst/>
            <a:ahLst/>
            <a:cxnLst/>
            <a:rect r="r" b="b" t="t" l="l"/>
            <a:pathLst>
              <a:path h="3043982" w="2352168">
                <a:moveTo>
                  <a:pt x="0" y="0"/>
                </a:moveTo>
                <a:lnTo>
                  <a:pt x="2352167" y="0"/>
                </a:lnTo>
                <a:lnTo>
                  <a:pt x="2352167" y="3043982"/>
                </a:lnTo>
                <a:lnTo>
                  <a:pt x="0" y="30439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1107100">
            <a:off x="4718619" y="-416222"/>
            <a:ext cx="2008771" cy="2057400"/>
          </a:xfrm>
          <a:custGeom>
            <a:avLst/>
            <a:gdLst/>
            <a:ahLst/>
            <a:cxnLst/>
            <a:rect r="r" b="b" t="t" l="l"/>
            <a:pathLst>
              <a:path h="2057400" w="2008771">
                <a:moveTo>
                  <a:pt x="0" y="0"/>
                </a:moveTo>
                <a:lnTo>
                  <a:pt x="2008771" y="0"/>
                </a:lnTo>
                <a:lnTo>
                  <a:pt x="2008771"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6625603" y="8510048"/>
            <a:ext cx="5036794" cy="4029435"/>
          </a:xfrm>
          <a:custGeom>
            <a:avLst/>
            <a:gdLst/>
            <a:ahLst/>
            <a:cxnLst/>
            <a:rect r="r" b="b" t="t" l="l"/>
            <a:pathLst>
              <a:path h="4029435" w="5036794">
                <a:moveTo>
                  <a:pt x="0" y="0"/>
                </a:moveTo>
                <a:lnTo>
                  <a:pt x="5036794" y="0"/>
                </a:lnTo>
                <a:lnTo>
                  <a:pt x="5036794" y="4029435"/>
                </a:lnTo>
                <a:lnTo>
                  <a:pt x="0" y="402943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639892">
            <a:off x="13385276" y="8581929"/>
            <a:ext cx="2343117" cy="2240872"/>
          </a:xfrm>
          <a:custGeom>
            <a:avLst/>
            <a:gdLst/>
            <a:ahLst/>
            <a:cxnLst/>
            <a:rect r="r" b="b" t="t" l="l"/>
            <a:pathLst>
              <a:path h="2240872" w="2343117">
                <a:moveTo>
                  <a:pt x="0" y="0"/>
                </a:moveTo>
                <a:lnTo>
                  <a:pt x="2343117" y="0"/>
                </a:lnTo>
                <a:lnTo>
                  <a:pt x="2343117" y="2240871"/>
                </a:lnTo>
                <a:lnTo>
                  <a:pt x="0" y="224087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806983">
            <a:off x="17210237" y="1066563"/>
            <a:ext cx="1580804" cy="2795634"/>
          </a:xfrm>
          <a:custGeom>
            <a:avLst/>
            <a:gdLst/>
            <a:ahLst/>
            <a:cxnLst/>
            <a:rect r="r" b="b" t="t" l="l"/>
            <a:pathLst>
              <a:path h="2795634" w="1580804">
                <a:moveTo>
                  <a:pt x="0" y="0"/>
                </a:moveTo>
                <a:lnTo>
                  <a:pt x="1580804" y="0"/>
                </a:lnTo>
                <a:lnTo>
                  <a:pt x="1580804" y="2795633"/>
                </a:lnTo>
                <a:lnTo>
                  <a:pt x="0" y="279563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6" id="16"/>
          <p:cNvSpPr/>
          <p:nvPr/>
        </p:nvSpPr>
        <p:spPr>
          <a:xfrm flipH="false" flipV="false" rot="-832757">
            <a:off x="8540947" y="-1480745"/>
            <a:ext cx="2389865" cy="2778912"/>
          </a:xfrm>
          <a:custGeom>
            <a:avLst/>
            <a:gdLst/>
            <a:ahLst/>
            <a:cxnLst/>
            <a:rect r="r" b="b" t="t" l="l"/>
            <a:pathLst>
              <a:path h="2778912" w="2389865">
                <a:moveTo>
                  <a:pt x="0" y="0"/>
                </a:moveTo>
                <a:lnTo>
                  <a:pt x="2389864" y="0"/>
                </a:lnTo>
                <a:lnTo>
                  <a:pt x="2389864" y="2778912"/>
                </a:lnTo>
                <a:lnTo>
                  <a:pt x="0" y="2778912"/>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7" id="17"/>
          <p:cNvSpPr/>
          <p:nvPr/>
        </p:nvSpPr>
        <p:spPr>
          <a:xfrm flipH="false" flipV="false" rot="-656220">
            <a:off x="12929071" y="-456013"/>
            <a:ext cx="2640671" cy="2362200"/>
          </a:xfrm>
          <a:custGeom>
            <a:avLst/>
            <a:gdLst/>
            <a:ahLst/>
            <a:cxnLst/>
            <a:rect r="r" b="b" t="t" l="l"/>
            <a:pathLst>
              <a:path h="2362200" w="2640671">
                <a:moveTo>
                  <a:pt x="0" y="0"/>
                </a:moveTo>
                <a:lnTo>
                  <a:pt x="2640671" y="0"/>
                </a:lnTo>
                <a:lnTo>
                  <a:pt x="2640671" y="2362200"/>
                </a:lnTo>
                <a:lnTo>
                  <a:pt x="0" y="236220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8" id="18"/>
          <p:cNvSpPr/>
          <p:nvPr/>
        </p:nvSpPr>
        <p:spPr>
          <a:xfrm flipH="false" flipV="false" rot="0">
            <a:off x="-146184" y="245181"/>
            <a:ext cx="3508440" cy="2940711"/>
          </a:xfrm>
          <a:custGeom>
            <a:avLst/>
            <a:gdLst/>
            <a:ahLst/>
            <a:cxnLst/>
            <a:rect r="r" b="b" t="t" l="l"/>
            <a:pathLst>
              <a:path h="2940711" w="3508440">
                <a:moveTo>
                  <a:pt x="0" y="0"/>
                </a:moveTo>
                <a:lnTo>
                  <a:pt x="3508440" y="0"/>
                </a:lnTo>
                <a:lnTo>
                  <a:pt x="3508440" y="2940711"/>
                </a:lnTo>
                <a:lnTo>
                  <a:pt x="0" y="2940711"/>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grpSp>
        <p:nvGrpSpPr>
          <p:cNvPr name="Group 19" id="19"/>
          <p:cNvGrpSpPr/>
          <p:nvPr/>
        </p:nvGrpSpPr>
        <p:grpSpPr>
          <a:xfrm rot="0">
            <a:off x="2013593" y="3346434"/>
            <a:ext cx="14260814" cy="3181348"/>
            <a:chOff x="0" y="0"/>
            <a:chExt cx="19014419" cy="4241797"/>
          </a:xfrm>
        </p:grpSpPr>
        <p:sp>
          <p:nvSpPr>
            <p:cNvPr name="TextBox 20" id="20"/>
            <p:cNvSpPr txBox="true"/>
            <p:nvPr/>
          </p:nvSpPr>
          <p:spPr>
            <a:xfrm rot="0">
              <a:off x="0" y="-219075"/>
              <a:ext cx="19014419" cy="2450041"/>
            </a:xfrm>
            <a:prstGeom prst="rect">
              <a:avLst/>
            </a:prstGeom>
          </p:spPr>
          <p:txBody>
            <a:bodyPr anchor="t" rtlCol="false" tIns="0" lIns="0" bIns="0" rIns="0">
              <a:spAutoFit/>
            </a:bodyPr>
            <a:lstStyle/>
            <a:p>
              <a:pPr algn="ctr">
                <a:lnSpc>
                  <a:spcPts val="15400"/>
                </a:lnSpc>
              </a:pPr>
              <a:r>
                <a:rPr lang="en-US" sz="11000">
                  <a:solidFill>
                    <a:srgbClr val="FFFFFF"/>
                  </a:solidFill>
                  <a:latin typeface="Intro Rust"/>
                  <a:ea typeface="Intro Rust"/>
                  <a:cs typeface="Intro Rust"/>
                  <a:sym typeface="Intro Rust"/>
                </a:rPr>
                <a:t>MUCHAS GRACIAS</a:t>
              </a:r>
            </a:p>
          </p:txBody>
        </p:sp>
        <p:sp>
          <p:nvSpPr>
            <p:cNvPr name="TextBox 21" id="21"/>
            <p:cNvSpPr txBox="true"/>
            <p:nvPr/>
          </p:nvSpPr>
          <p:spPr>
            <a:xfrm rot="0">
              <a:off x="0" y="2372598"/>
              <a:ext cx="19014419" cy="1869199"/>
            </a:xfrm>
            <a:prstGeom prst="rect">
              <a:avLst/>
            </a:prstGeom>
          </p:spPr>
          <p:txBody>
            <a:bodyPr anchor="t" rtlCol="false" tIns="0" lIns="0" bIns="0" rIns="0">
              <a:spAutoFit/>
            </a:bodyPr>
            <a:lstStyle/>
            <a:p>
              <a:pPr algn="ctr">
                <a:lnSpc>
                  <a:spcPts val="11848"/>
                </a:lnSpc>
              </a:pPr>
              <a:r>
                <a:rPr lang="en-US" sz="8463">
                  <a:solidFill>
                    <a:srgbClr val="5A99D1"/>
                  </a:solidFill>
                  <a:latin typeface="Intro Rust"/>
                  <a:ea typeface="Intro Rust"/>
                  <a:cs typeface="Intro Rust"/>
                  <a:sym typeface="Intro Rust"/>
                </a:rPr>
                <a:t>por su atención</a:t>
              </a:r>
            </a:p>
          </p:txBody>
        </p:sp>
      </p:grpSp>
      <p:sp>
        <p:nvSpPr>
          <p:cNvPr name="TextBox 22" id="22"/>
          <p:cNvSpPr txBox="true"/>
          <p:nvPr/>
        </p:nvSpPr>
        <p:spPr>
          <a:xfrm rot="0">
            <a:off x="2744632" y="6874494"/>
            <a:ext cx="12798736" cy="715645"/>
          </a:xfrm>
          <a:prstGeom prst="rect">
            <a:avLst/>
          </a:prstGeom>
        </p:spPr>
        <p:txBody>
          <a:bodyPr anchor="t" rtlCol="false" tIns="0" lIns="0" bIns="0" rIns="0">
            <a:spAutoFit/>
          </a:bodyPr>
          <a:lstStyle/>
          <a:p>
            <a:pPr algn="ctr">
              <a:lnSpc>
                <a:spcPts val="5179"/>
              </a:lnSpc>
            </a:pPr>
            <a:r>
              <a:rPr lang="en-US" sz="3699">
                <a:solidFill>
                  <a:srgbClr val="34495E"/>
                </a:solidFill>
                <a:latin typeface="Mero Thai"/>
                <a:ea typeface="Mero Thai"/>
                <a:cs typeface="Mero Thai"/>
                <a:sym typeface="Mero Thai"/>
              </a:rPr>
              <a:t>Eduardo Leonel Navarro Avila 4-i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DAHHh30GhhY</dc:identifier>
  <dcterms:modified xsi:type="dcterms:W3CDTF">2011-08-01T06:04:30Z</dcterms:modified>
  <cp:revision>1</cp:revision>
  <dc:title>introucción a</dc:title>
</cp:coreProperties>
</file>